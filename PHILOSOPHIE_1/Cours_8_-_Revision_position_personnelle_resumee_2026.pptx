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301" r:id="rId2"/>
    <p:sldId id="257" r:id="rId3"/>
    <p:sldId id="256" r:id="rId4"/>
    <p:sldId id="258" r:id="rId5"/>
    <p:sldId id="306" r:id="rId6"/>
    <p:sldId id="307" r:id="rId7"/>
    <p:sldId id="259" r:id="rId8"/>
    <p:sldId id="308" r:id="rId9"/>
    <p:sldId id="314" r:id="rId10"/>
    <p:sldId id="315" r:id="rId11"/>
    <p:sldId id="316" r:id="rId12"/>
    <p:sldId id="317" r:id="rId13"/>
    <p:sldId id="318" r:id="rId14"/>
    <p:sldId id="319" r:id="rId15"/>
    <p:sldId id="323" r:id="rId16"/>
    <p:sldId id="326" r:id="rId17"/>
    <p:sldId id="327" r:id="rId18"/>
    <p:sldId id="328" r:id="rId19"/>
    <p:sldId id="333" r:id="rId20"/>
    <p:sldId id="334" r:id="rId21"/>
    <p:sldId id="335" r:id="rId22"/>
    <p:sldId id="336" r:id="rId23"/>
  </p:sldIdLst>
  <p:sldSz cx="9144000" cy="5143500" type="screen16x9"/>
  <p:notesSz cx="6858000" cy="9144000"/>
  <p:embeddedFontLst>
    <p:embeddedFont>
      <p:font typeface="Lato" panose="020F0502020204030204" pitchFamily="34" charset="0"/>
      <p:regular r:id="rId25"/>
      <p:bold r:id="rId26"/>
      <p:italic r:id="rId27"/>
      <p:bold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91"/>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s BOULET" userId="43a643d2-06a5-479e-886e-384f707cb631" providerId="ADAL" clId="{B69C69E8-C363-47DB-BAC3-0C7D339DC3A9}"/>
    <pc:docChg chg="modSld">
      <pc:chgData name="Jacques BOULET" userId="43a643d2-06a5-479e-886e-384f707cb631" providerId="ADAL" clId="{B69C69E8-C363-47DB-BAC3-0C7D339DC3A9}" dt="2026-02-20T17:27:12.212" v="0" actId="207"/>
      <pc:docMkLst>
        <pc:docMk/>
      </pc:docMkLst>
      <pc:sldChg chg="modSp mod">
        <pc:chgData name="Jacques BOULET" userId="43a643d2-06a5-479e-886e-384f707cb631" providerId="ADAL" clId="{B69C69E8-C363-47DB-BAC3-0C7D339DC3A9}" dt="2026-02-20T17:27:12.212" v="0" actId="207"/>
        <pc:sldMkLst>
          <pc:docMk/>
          <pc:sldMk cId="3524682480" sldId="314"/>
        </pc:sldMkLst>
        <pc:spChg chg="mod">
          <ac:chgData name="Jacques BOULET" userId="43a643d2-06a5-479e-886e-384f707cb631" providerId="ADAL" clId="{B69C69E8-C363-47DB-BAC3-0C7D339DC3A9}" dt="2026-02-20T17:27:12.212" v="0" actId="207"/>
          <ac:spMkLst>
            <pc:docMk/>
            <pc:sldMk cId="3524682480" sldId="314"/>
            <ac:spMk id="9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09adf3f0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09adf3f0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95553aee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95553aee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3248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508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9719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5509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443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1477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1519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6878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154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2161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71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972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78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9430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7920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924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A7A34-FB27-39B2-8259-E1F3E752F076}"/>
              </a:ext>
            </a:extLst>
          </p:cNvPr>
          <p:cNvSpPr>
            <a:spLocks noGrp="1"/>
          </p:cNvSpPr>
          <p:nvPr>
            <p:ph type="title"/>
          </p:nvPr>
        </p:nvSpPr>
        <p:spPr/>
        <p:txBody>
          <a:bodyPr/>
          <a:lstStyle/>
          <a:p>
            <a:r>
              <a:rPr lang="fr-CA" dirty="0"/>
              <a:t>Quelques remarques sur la position personnelle</a:t>
            </a:r>
          </a:p>
        </p:txBody>
      </p:sp>
    </p:spTree>
    <p:extLst>
      <p:ext uri="{BB962C8B-B14F-4D97-AF65-F5344CB8AC3E}">
        <p14:creationId xmlns:p14="http://schemas.microsoft.com/office/powerpoint/2010/main" val="1976502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Question étudiée :</a:t>
            </a:r>
            <a:endParaRPr dirty="0"/>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fr-CA" sz="3000" dirty="0"/>
              <a:t>Doit-on pratiquer la philosophie pour vivre une meilleure vie ?</a:t>
            </a:r>
            <a:endParaRPr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lvl="0" algn="l" rtl="0">
              <a:spcBef>
                <a:spcPts val="0"/>
              </a:spcBef>
              <a:spcAft>
                <a:spcPts val="0"/>
              </a:spcAft>
              <a:buSzPts val="4200"/>
            </a:pPr>
            <a:r>
              <a:rPr lang="en" dirty="0"/>
              <a:t>La thèse : quelques conseils</a:t>
            </a:r>
            <a:endParaRPr dirty="0"/>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CA" dirty="0"/>
              <a:t>La thèse :</a:t>
            </a:r>
            <a:endParaRPr dirty="0"/>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lvl="0" indent="-457200" algn="just" rtl="0">
              <a:spcBef>
                <a:spcPts val="0"/>
              </a:spcBef>
              <a:spcAft>
                <a:spcPts val="0"/>
              </a:spcAft>
              <a:buFontTx/>
              <a:buChar char="-"/>
            </a:pPr>
            <a:r>
              <a:rPr lang="en" sz="3000" dirty="0">
                <a:solidFill>
                  <a:schemeClr val="dk1"/>
                </a:solidFill>
              </a:rPr>
              <a:t>La thèse doit être présentée de manière claire dans votre texte.</a:t>
            </a:r>
          </a:p>
          <a:p>
            <a:pPr lvl="0" indent="-457200" algn="just" rtl="0">
              <a:spcBef>
                <a:spcPts val="0"/>
              </a:spcBef>
              <a:spcAft>
                <a:spcPts val="0"/>
              </a:spcAft>
              <a:buFontTx/>
              <a:buChar char="-"/>
            </a:pPr>
            <a:r>
              <a:rPr lang="en" sz="3000" dirty="0">
                <a:solidFill>
                  <a:schemeClr val="dk1"/>
                </a:solidFill>
              </a:rPr>
              <a:t>La thèse doit bien répondre à la question posée.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a:t>
            </a:r>
            <a:endParaRPr lang="en" sz="3000" dirty="0">
              <a:solidFill>
                <a:srgbClr val="FF0000"/>
              </a:solidFill>
            </a:endParaRPr>
          </a:p>
        </p:txBody>
      </p:sp>
    </p:spTree>
    <p:extLst>
      <p:ext uri="{BB962C8B-B14F-4D97-AF65-F5344CB8AC3E}">
        <p14:creationId xmlns:p14="http://schemas.microsoft.com/office/powerpoint/2010/main" val="650988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764589"/>
          </a:xfrm>
          <a:prstGeom prst="rect">
            <a:avLst/>
          </a:prstGeom>
        </p:spPr>
        <p:txBody>
          <a:bodyPr spcFirstLastPara="1" wrap="square" lIns="91425" tIns="91425" rIns="91425" bIns="91425" anchor="t" anchorCtr="0">
            <a:normAutofit fontScale="925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a:t>
            </a:r>
          </a:p>
          <a:p>
            <a:pPr marL="0" lvl="0" indent="0" algn="just" rtl="0">
              <a:spcBef>
                <a:spcPts val="0"/>
              </a:spcBef>
              <a:spcAft>
                <a:spcPts val="0"/>
              </a:spcAft>
              <a:buNone/>
            </a:pPr>
            <a:r>
              <a:rPr lang="en" sz="3000" dirty="0">
                <a:solidFill>
                  <a:srgbClr val="FF0000"/>
                </a:solidFill>
              </a:rPr>
              <a:t>= OUI ! Clair et répond directement à la quesiton.</a:t>
            </a:r>
          </a:p>
        </p:txBody>
      </p:sp>
    </p:spTree>
    <p:extLst>
      <p:ext uri="{BB962C8B-B14F-4D97-AF65-F5344CB8AC3E}">
        <p14:creationId xmlns:p14="http://schemas.microsoft.com/office/powerpoint/2010/main" val="380659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L’argument : quelques conseils </a:t>
            </a:r>
            <a:endParaRPr dirty="0"/>
          </a:p>
        </p:txBody>
      </p:sp>
      <p:sp>
        <p:nvSpPr>
          <p:cNvPr id="105" name="Google Shape;105;p1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CA" dirty="0"/>
              <a:t>L’argument (ou les arguments)</a:t>
            </a:r>
            <a:endParaRPr dirty="0"/>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a:bodyPr>
          <a:lstStyle/>
          <a:p>
            <a:pPr lvl="0" indent="-457200" algn="just" rtl="0">
              <a:spcBef>
                <a:spcPts val="0"/>
              </a:spcBef>
              <a:spcAft>
                <a:spcPts val="0"/>
              </a:spcAft>
              <a:buFontTx/>
              <a:buChar char="-"/>
            </a:pPr>
            <a:r>
              <a:rPr lang="en" sz="3000" dirty="0">
                <a:solidFill>
                  <a:schemeClr val="dk1"/>
                </a:solidFill>
              </a:rPr>
              <a:t>L’argument doit appuyer directement la thèse étudiée.</a:t>
            </a:r>
          </a:p>
          <a:p>
            <a:pPr lvl="0" indent="-457200" algn="just" rtl="0">
              <a:spcBef>
                <a:spcPts val="0"/>
              </a:spcBef>
              <a:spcAft>
                <a:spcPts val="0"/>
              </a:spcAft>
              <a:buFontTx/>
              <a:buChar char="-"/>
            </a:pPr>
            <a:r>
              <a:rPr lang="en" sz="3000" dirty="0">
                <a:solidFill>
                  <a:schemeClr val="dk1"/>
                </a:solidFill>
              </a:rPr>
              <a:t>L’argument doit être bien développé : une phrase ou deux n’est souvent pas suffisant.</a:t>
            </a:r>
          </a:p>
        </p:txBody>
      </p:sp>
    </p:spTree>
    <p:extLst>
      <p:ext uri="{BB962C8B-B14F-4D97-AF65-F5344CB8AC3E}">
        <p14:creationId xmlns:p14="http://schemas.microsoft.com/office/powerpoint/2010/main" val="97451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900319"/>
          </a:xfrm>
          <a:prstGeom prst="rect">
            <a:avLst/>
          </a:prstGeom>
        </p:spPr>
        <p:txBody>
          <a:bodyPr spcFirstLastPara="1" wrap="square" lIns="91425" tIns="91425" rIns="91425" bIns="91425" anchor="t" anchorCtr="0">
            <a:normAutofit fontScale="625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 </a:t>
            </a:r>
            <a:r>
              <a:rPr lang="en" sz="3000" dirty="0">
                <a:solidFill>
                  <a:srgbClr val="FF0000"/>
                </a:solidFill>
              </a:rPr>
              <a:t>car</a:t>
            </a:r>
            <a:r>
              <a:rPr lang="en" sz="3000" dirty="0">
                <a:solidFill>
                  <a:schemeClr val="dk1"/>
                </a:solidFill>
              </a:rPr>
              <a:t> les philosophes ont cherché pendant des millénaires quelle était la meilleure vie possible. </a:t>
            </a:r>
            <a:r>
              <a:rPr lang="en" sz="3000" dirty="0">
                <a:solidFill>
                  <a:srgbClr val="FF0000"/>
                </a:solidFill>
              </a:rPr>
              <a:t>En effet</a:t>
            </a:r>
            <a:r>
              <a:rPr lang="en" sz="3000" dirty="0">
                <a:solidFill>
                  <a:schemeClr val="dk1"/>
                </a:solidFill>
              </a:rPr>
              <a:t>, depuis les Grecs, un nombre inimaginable de sages et de savants se sont penchés sur la question du bonheur authentique. En étudiant leurs différentes réponses, on arrive à éviter les pièges les plus courants et on peut prendre des chemins qui se sont révélés, à travers les siècles, plus propices au bonheur humain.</a:t>
            </a:r>
          </a:p>
        </p:txBody>
      </p:sp>
    </p:spTree>
    <p:extLst>
      <p:ext uri="{BB962C8B-B14F-4D97-AF65-F5344CB8AC3E}">
        <p14:creationId xmlns:p14="http://schemas.microsoft.com/office/powerpoint/2010/main" val="352468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900319"/>
          </a:xfrm>
          <a:prstGeom prst="rect">
            <a:avLst/>
          </a:prstGeom>
        </p:spPr>
        <p:txBody>
          <a:bodyPr spcFirstLastPara="1" wrap="square" lIns="91425" tIns="91425" rIns="91425" bIns="91425" anchor="t" anchorCtr="0">
            <a:normAutofit fontScale="625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 car les philosophes ont cherché pendant des millénaires quelle était la meilleure vie possible. </a:t>
            </a:r>
            <a:r>
              <a:rPr lang="en" sz="3000" dirty="0">
                <a:solidFill>
                  <a:srgbClr val="FF0000"/>
                </a:solidFill>
              </a:rPr>
              <a:t>En effet</a:t>
            </a:r>
            <a:r>
              <a:rPr lang="en" sz="3000" dirty="0">
                <a:solidFill>
                  <a:schemeClr val="dk1"/>
                </a:solidFill>
              </a:rPr>
              <a:t>, depuis les Grecs, un nombre inimaginable de sages et de savants se sont penchés sur la question du bonheur authentique. En étudiant leurs différentes réponses, on arrive à éviter les pièges les plus courants et on peut prendre des chemins qui se sont révélés, à travers les siècles, plus propices au bonheur humain. </a:t>
            </a:r>
            <a:r>
              <a:rPr lang="en" sz="3000" dirty="0">
                <a:solidFill>
                  <a:srgbClr val="FF0000"/>
                </a:solidFill>
              </a:rPr>
              <a:t>(82 mots)</a:t>
            </a:r>
          </a:p>
        </p:txBody>
      </p:sp>
    </p:spTree>
    <p:extLst>
      <p:ext uri="{BB962C8B-B14F-4D97-AF65-F5344CB8AC3E}">
        <p14:creationId xmlns:p14="http://schemas.microsoft.com/office/powerpoint/2010/main" val="1877510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900319"/>
          </a:xfrm>
          <a:prstGeom prst="rect">
            <a:avLst/>
          </a:prstGeom>
        </p:spPr>
        <p:txBody>
          <a:bodyPr spcFirstLastPara="1" wrap="square" lIns="91425" tIns="91425" rIns="91425" bIns="91425" anchor="t" anchorCtr="0">
            <a:normAutofit fontScale="550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 car les philosophes ont cherché pendant des millénaires quelle était la meilleure vie possible. </a:t>
            </a:r>
            <a:r>
              <a:rPr lang="en" sz="3000" dirty="0">
                <a:solidFill>
                  <a:schemeClr val="tx1"/>
                </a:solidFill>
              </a:rPr>
              <a:t>En effet</a:t>
            </a:r>
            <a:r>
              <a:rPr lang="en" sz="3000" dirty="0">
                <a:solidFill>
                  <a:schemeClr val="dk1"/>
                </a:solidFill>
              </a:rPr>
              <a:t>, depuis les Grecs, un nombre inimaginable de sages et de savants se sont penchés sur la question du bonheur authentique. En étudiant leurs différentes réponses, on arrive à </a:t>
            </a:r>
            <a:r>
              <a:rPr lang="en" sz="3000" dirty="0">
                <a:solidFill>
                  <a:srgbClr val="FF0000"/>
                </a:solidFill>
              </a:rPr>
              <a:t>éviter les pièges</a:t>
            </a:r>
            <a:r>
              <a:rPr lang="en" sz="3000" dirty="0">
                <a:solidFill>
                  <a:schemeClr val="dk1"/>
                </a:solidFill>
              </a:rPr>
              <a:t> les plus courants et on peut </a:t>
            </a:r>
            <a:r>
              <a:rPr lang="en" sz="3000" dirty="0">
                <a:solidFill>
                  <a:srgbClr val="FF0000"/>
                </a:solidFill>
              </a:rPr>
              <a:t>prendre des chemins </a:t>
            </a:r>
            <a:r>
              <a:rPr lang="en" sz="3000" dirty="0">
                <a:solidFill>
                  <a:schemeClr val="dk1"/>
                </a:solidFill>
              </a:rPr>
              <a:t>qui se sont révélés, à travers les siècles, plus propices au bonheur humain. </a:t>
            </a:r>
            <a:r>
              <a:rPr lang="en" sz="3000" dirty="0">
                <a:solidFill>
                  <a:srgbClr val="FF0000"/>
                </a:solidFill>
              </a:rPr>
              <a:t>(Pour développer davantage : quels sont ces pièges ? Quels sont ces chemins que les philosophes ont identifiés comme étant plus propice au bonheur humain ? Etc.)</a:t>
            </a:r>
          </a:p>
        </p:txBody>
      </p:sp>
    </p:spTree>
    <p:extLst>
      <p:ext uri="{BB962C8B-B14F-4D97-AF65-F5344CB8AC3E}">
        <p14:creationId xmlns:p14="http://schemas.microsoft.com/office/powerpoint/2010/main" val="397073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dirty="0"/>
              <a:t>Développez !!!</a:t>
            </a:r>
            <a:endParaRPr dirty="0"/>
          </a:p>
        </p:txBody>
      </p:sp>
      <p:sp>
        <p:nvSpPr>
          <p:cNvPr id="99" name="Google Shape;99;p15"/>
          <p:cNvSpPr txBox="1">
            <a:spLocks noGrp="1"/>
          </p:cNvSpPr>
          <p:nvPr>
            <p:ph type="body" idx="1"/>
          </p:nvPr>
        </p:nvSpPr>
        <p:spPr>
          <a:xfrm>
            <a:off x="729450" y="2078874"/>
            <a:ext cx="7688700" cy="2900319"/>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n" sz="3000" dirty="0">
                <a:solidFill>
                  <a:srgbClr val="FF0000"/>
                </a:solidFill>
              </a:rPr>
              <a:t>Conseil : mettez de la chair autour de l’os. </a:t>
            </a:r>
            <a:r>
              <a:rPr lang="en" sz="3000" dirty="0">
                <a:solidFill>
                  <a:schemeClr val="dk1"/>
                </a:solidFill>
              </a:rPr>
              <a:t>Il faut développer le plus possible votre argumentation pour qu’on soit en mesure de bien comprendre votre position. Plus vous donnez de détails, d’exemples, d’arguments, d’explications, plus votre position sera solide.</a:t>
            </a:r>
          </a:p>
        </p:txBody>
      </p:sp>
    </p:spTree>
    <p:extLst>
      <p:ext uri="{BB962C8B-B14F-4D97-AF65-F5344CB8AC3E}">
        <p14:creationId xmlns:p14="http://schemas.microsoft.com/office/powerpoint/2010/main" val="91579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L’objection : quelques conseils </a:t>
            </a:r>
            <a:endParaRPr dirty="0"/>
          </a:p>
        </p:txBody>
      </p:sp>
      <p:sp>
        <p:nvSpPr>
          <p:cNvPr id="105" name="Google Shape;105;p1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2574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CA" dirty="0"/>
              <a:t>L’objection</a:t>
            </a:r>
            <a:endParaRPr dirty="0"/>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lnSpcReduction="20000"/>
          </a:bodyPr>
          <a:lstStyle/>
          <a:p>
            <a:pPr lvl="0" indent="-457200" algn="just" rtl="0">
              <a:spcBef>
                <a:spcPts val="0"/>
              </a:spcBef>
              <a:spcAft>
                <a:spcPts val="0"/>
              </a:spcAft>
              <a:buFontTx/>
              <a:buChar char="-"/>
            </a:pPr>
            <a:r>
              <a:rPr lang="en" sz="3000" dirty="0">
                <a:solidFill>
                  <a:schemeClr val="dk1"/>
                </a:solidFill>
              </a:rPr>
              <a:t>L’objection doit être présentée d’une manière à ce que ce soit clair qu’il ne s’agit pas de votre position à vous.</a:t>
            </a:r>
          </a:p>
          <a:p>
            <a:pPr lvl="0" indent="-457200" algn="just" rtl="0">
              <a:spcBef>
                <a:spcPts val="0"/>
              </a:spcBef>
              <a:spcAft>
                <a:spcPts val="0"/>
              </a:spcAft>
              <a:buFontTx/>
              <a:buChar char="-"/>
            </a:pPr>
            <a:r>
              <a:rPr lang="en" sz="3000" dirty="0">
                <a:solidFill>
                  <a:schemeClr val="dk1"/>
                </a:solidFill>
              </a:rPr>
              <a:t>L’objection doit s’attaquer soit à la thèse, soit à un argument.</a:t>
            </a:r>
          </a:p>
        </p:txBody>
      </p:sp>
    </p:spTree>
    <p:extLst>
      <p:ext uri="{BB962C8B-B14F-4D97-AF65-F5344CB8AC3E}">
        <p14:creationId xmlns:p14="http://schemas.microsoft.com/office/powerpoint/2010/main" val="112114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393114"/>
          </a:xfrm>
          <a:prstGeom prst="rect">
            <a:avLst/>
          </a:prstGeom>
        </p:spPr>
        <p:txBody>
          <a:bodyPr spcFirstLastPara="1" wrap="square" lIns="91425" tIns="91425" rIns="91425" bIns="91425" anchor="t" anchorCtr="0">
            <a:normAutofit fontScale="700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 car les philosophes ont cherché pendant des millénaires quelle était la meilleure vie possible. </a:t>
            </a:r>
            <a:r>
              <a:rPr lang="en" sz="3000" dirty="0">
                <a:solidFill>
                  <a:schemeClr val="accent5"/>
                </a:solidFill>
              </a:rPr>
              <a:t>Pourtant, certaines personnes pourraient répondre que ces philosophes se contredisent tous sur le sujet, ce qui fait qu’on ne peut pas vraiment savoir comment mieux vivre. </a:t>
            </a:r>
            <a:r>
              <a:rPr lang="en" sz="3000" dirty="0">
                <a:solidFill>
                  <a:srgbClr val="FF0000"/>
                </a:solidFill>
              </a:rPr>
              <a:t>(OUI!)</a:t>
            </a:r>
          </a:p>
        </p:txBody>
      </p:sp>
    </p:spTree>
    <p:extLst>
      <p:ext uri="{BB962C8B-B14F-4D97-AF65-F5344CB8AC3E}">
        <p14:creationId xmlns:p14="http://schemas.microsoft.com/office/powerpoint/2010/main" val="4195732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4"/>
            <a:ext cx="7688700" cy="2778876"/>
          </a:xfrm>
          <a:prstGeom prst="rect">
            <a:avLst/>
          </a:prstGeom>
        </p:spPr>
        <p:txBody>
          <a:bodyPr spcFirstLastPara="1" wrap="square" lIns="91425" tIns="91425" rIns="91425" bIns="91425" anchor="t" anchorCtr="0">
            <a:normAutofit fontScale="700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dk1"/>
                </a:solidFill>
              </a:rPr>
              <a:t>Exemple : Je pense que la philosophie est essentielle pour vivre une vie réellement épanouie et authentique, car les philosophes ont cherché pendant des millénaires quelle était la meilleure vie possible. </a:t>
            </a:r>
            <a:r>
              <a:rPr lang="en" sz="3000" dirty="0">
                <a:solidFill>
                  <a:schemeClr val="accent5"/>
                </a:solidFill>
              </a:rPr>
              <a:t>Par contre, on entend souvent que la philosophie est complexe, difficile, qu’elle se perd souvent dans les détails, bref qu’elle n’arrive pas à donner de réponse claire et évidente sur ce que serait la meilleure vie pour nous. </a:t>
            </a:r>
            <a:r>
              <a:rPr lang="en" sz="3000" dirty="0">
                <a:solidFill>
                  <a:srgbClr val="FF0000"/>
                </a:solidFill>
              </a:rPr>
              <a:t>(OUI!)</a:t>
            </a:r>
          </a:p>
        </p:txBody>
      </p:sp>
    </p:spTree>
    <p:extLst>
      <p:ext uri="{BB962C8B-B14F-4D97-AF65-F5344CB8AC3E}">
        <p14:creationId xmlns:p14="http://schemas.microsoft.com/office/powerpoint/2010/main" val="174190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La réfutation : quelques conseils</a:t>
            </a:r>
            <a:endParaRPr dirty="0"/>
          </a:p>
        </p:txBody>
      </p:sp>
      <p:sp>
        <p:nvSpPr>
          <p:cNvPr id="105" name="Google Shape;105;p1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3571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CA" dirty="0"/>
              <a:t>La réfutation</a:t>
            </a:r>
            <a:endParaRPr dirty="0"/>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lvl="0" indent="-457200" algn="just" rtl="0">
              <a:spcBef>
                <a:spcPts val="0"/>
              </a:spcBef>
              <a:spcAft>
                <a:spcPts val="0"/>
              </a:spcAft>
              <a:buFontTx/>
              <a:buChar char="-"/>
            </a:pPr>
            <a:r>
              <a:rPr lang="en" sz="3000" dirty="0">
                <a:solidFill>
                  <a:schemeClr val="dk1"/>
                </a:solidFill>
              </a:rPr>
              <a:t>La réfutation doit répondre directement à l’objection.</a:t>
            </a:r>
          </a:p>
          <a:p>
            <a:pPr lvl="0" indent="-457200" algn="just" rtl="0">
              <a:spcBef>
                <a:spcPts val="0"/>
              </a:spcBef>
              <a:spcAft>
                <a:spcPts val="0"/>
              </a:spcAft>
              <a:buFontTx/>
              <a:buChar char="-"/>
            </a:pPr>
            <a:r>
              <a:rPr lang="en" sz="3000" dirty="0">
                <a:solidFill>
                  <a:schemeClr val="dk1"/>
                </a:solidFill>
              </a:rPr>
              <a:t>La réfutation doit présenter un nouvel argument pour défendre notre position.</a:t>
            </a:r>
          </a:p>
        </p:txBody>
      </p:sp>
    </p:spTree>
    <p:extLst>
      <p:ext uri="{BB962C8B-B14F-4D97-AF65-F5344CB8AC3E}">
        <p14:creationId xmlns:p14="http://schemas.microsoft.com/office/powerpoint/2010/main" val="3182549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3"/>
            <a:ext cx="7688700" cy="2964615"/>
          </a:xfrm>
          <a:prstGeom prst="rect">
            <a:avLst/>
          </a:prstGeom>
        </p:spPr>
        <p:txBody>
          <a:bodyPr spcFirstLastPara="1" wrap="square" lIns="91425" tIns="91425" rIns="91425" bIns="91425" anchor="t" anchorCtr="0">
            <a:normAutofit fontScale="700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tx1"/>
                </a:solidFill>
              </a:rPr>
              <a:t>Exemple : Par contre, on entend souvent que la philosophie est complexe, difficile, qu’elle se perd souvent dans les détails, bref qu’elle n’arrive pas à donner de réponse claire et évidente sur ce que serait la meilleure vie pour nous. </a:t>
            </a:r>
            <a:r>
              <a:rPr lang="en" sz="3000" dirty="0">
                <a:solidFill>
                  <a:schemeClr val="accent2">
                    <a:lumMod val="50000"/>
                  </a:schemeClr>
                </a:solidFill>
              </a:rPr>
              <a:t>On pourrait répondre que oui, les philosophes donnent des réponses claires. Ça prend certainement du temps et beaucoup d’étude, mais un sens se dégage progressivement de leurs écrits et on peut ainsi mieux comprendre ce qui permet à une vie d’être plus épanouie.</a:t>
            </a:r>
          </a:p>
        </p:txBody>
      </p:sp>
    </p:spTree>
    <p:extLst>
      <p:ext uri="{BB962C8B-B14F-4D97-AF65-F5344CB8AC3E}">
        <p14:creationId xmlns:p14="http://schemas.microsoft.com/office/powerpoint/2010/main" val="395813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r>
              <a:rPr lang="fr-CA" sz="2800" dirty="0"/>
              <a:t>Doit-on pratiquer la philosophie pour vivre une meilleure vie ?</a:t>
            </a:r>
            <a:endParaRPr dirty="0"/>
          </a:p>
        </p:txBody>
      </p:sp>
      <p:sp>
        <p:nvSpPr>
          <p:cNvPr id="99" name="Google Shape;99;p15"/>
          <p:cNvSpPr txBox="1">
            <a:spLocks noGrp="1"/>
          </p:cNvSpPr>
          <p:nvPr>
            <p:ph type="body" idx="1"/>
          </p:nvPr>
        </p:nvSpPr>
        <p:spPr>
          <a:xfrm>
            <a:off x="729450" y="2078873"/>
            <a:ext cx="7688700" cy="2964615"/>
          </a:xfrm>
          <a:prstGeom prst="rect">
            <a:avLst/>
          </a:prstGeom>
        </p:spPr>
        <p:txBody>
          <a:bodyPr spcFirstLastPara="1" wrap="square" lIns="91425" tIns="91425" rIns="91425" bIns="91425" anchor="t" anchorCtr="0">
            <a:normAutofit fontScale="70000" lnSpcReduction="20000"/>
          </a:bodyPr>
          <a:lstStyle/>
          <a:p>
            <a:pPr marL="0" lvl="0" indent="0" algn="just" rtl="0">
              <a:spcBef>
                <a:spcPts val="0"/>
              </a:spcBef>
              <a:spcAft>
                <a:spcPts val="0"/>
              </a:spcAft>
              <a:buNone/>
            </a:pPr>
            <a:endParaRPr lang="en" sz="3000" dirty="0">
              <a:solidFill>
                <a:schemeClr val="dk1"/>
              </a:solidFill>
            </a:endParaRPr>
          </a:p>
          <a:p>
            <a:pPr marL="0" lvl="0" indent="0" algn="just" rtl="0">
              <a:spcBef>
                <a:spcPts val="0"/>
              </a:spcBef>
              <a:spcAft>
                <a:spcPts val="0"/>
              </a:spcAft>
              <a:buNone/>
            </a:pPr>
            <a:r>
              <a:rPr lang="en" sz="3000" dirty="0">
                <a:solidFill>
                  <a:schemeClr val="tx1"/>
                </a:solidFill>
              </a:rPr>
              <a:t>Exemple : Par contre, on entend souvent que la philosophie est complexe, difficile, qu’elle se perd souvent dans les détails, bref qu’elle n’arrive pas à donner de réponse claire et évidente sur ce que serait la meilleure vie pour nous. </a:t>
            </a:r>
            <a:r>
              <a:rPr lang="en" sz="3000" dirty="0">
                <a:solidFill>
                  <a:schemeClr val="accent2">
                    <a:lumMod val="50000"/>
                  </a:schemeClr>
                </a:solidFill>
              </a:rPr>
              <a:t>On pourrait répondre que oui, les philosophes donnent des réponses claires. Ça prend certainement du temps et beaucoup d’étude, mais un sens se dégage progressivement de leurs écrits et on peut ainsi mieux comprendre ce qui permet à une vie d’être plus épanouie. </a:t>
            </a:r>
            <a:r>
              <a:rPr lang="en" sz="3000" dirty="0">
                <a:solidFill>
                  <a:srgbClr val="FF0000"/>
                </a:solidFill>
              </a:rPr>
              <a:t>(86)</a:t>
            </a:r>
          </a:p>
        </p:txBody>
      </p:sp>
    </p:spTree>
    <p:extLst>
      <p:ext uri="{BB962C8B-B14F-4D97-AF65-F5344CB8AC3E}">
        <p14:creationId xmlns:p14="http://schemas.microsoft.com/office/powerpoint/2010/main" val="3598391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Remarques finales</a:t>
            </a:r>
            <a:endParaRPr dirty="0"/>
          </a:p>
        </p:txBody>
      </p:sp>
      <p:sp>
        <p:nvSpPr>
          <p:cNvPr id="105" name="Google Shape;105;p1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897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AEDA79-52DC-2056-C158-756960EE117B}"/>
              </a:ext>
            </a:extLst>
          </p:cNvPr>
          <p:cNvSpPr>
            <a:spLocks noGrp="1"/>
          </p:cNvSpPr>
          <p:nvPr>
            <p:ph type="title"/>
          </p:nvPr>
        </p:nvSpPr>
        <p:spPr/>
        <p:txBody>
          <a:bodyPr>
            <a:normAutofit fontScale="90000"/>
          </a:bodyPr>
          <a:lstStyle/>
          <a:p>
            <a:r>
              <a:rPr lang="fr-CA" dirty="0"/>
              <a:t>Remarques finales</a:t>
            </a:r>
          </a:p>
        </p:txBody>
      </p:sp>
      <p:sp>
        <p:nvSpPr>
          <p:cNvPr id="3" name="Espace réservé du texte 2">
            <a:extLst>
              <a:ext uri="{FF2B5EF4-FFF2-40B4-BE49-F238E27FC236}">
                <a16:creationId xmlns:a16="http://schemas.microsoft.com/office/drawing/2014/main" id="{C143B3E1-F3C0-9FFE-7F2F-4F465C38A460}"/>
              </a:ext>
            </a:extLst>
          </p:cNvPr>
          <p:cNvSpPr>
            <a:spLocks noGrp="1"/>
          </p:cNvSpPr>
          <p:nvPr>
            <p:ph type="body" idx="1"/>
          </p:nvPr>
        </p:nvSpPr>
        <p:spPr/>
        <p:txBody>
          <a:bodyPr>
            <a:noAutofit/>
          </a:bodyPr>
          <a:lstStyle/>
          <a:p>
            <a:pPr marL="146050" indent="0">
              <a:buNone/>
            </a:pPr>
            <a:r>
              <a:rPr lang="fr-CA" sz="2000" dirty="0">
                <a:solidFill>
                  <a:schemeClr val="tx1"/>
                </a:solidFill>
              </a:rPr>
              <a:t>-Thèse : (« Je crois que… »), la thèse doit être claire.</a:t>
            </a:r>
          </a:p>
          <a:p>
            <a:pPr marL="146050" indent="0">
              <a:buNone/>
            </a:pPr>
            <a:r>
              <a:rPr lang="fr-CA" sz="2000" dirty="0">
                <a:solidFill>
                  <a:schemeClr val="tx1"/>
                </a:solidFill>
              </a:rPr>
              <a:t>-Argument : doit être bien développé et bien expliqué (« Car… » « En effet… »). On peut aussi en donner plusieurs (« De plus… »).</a:t>
            </a:r>
          </a:p>
          <a:p>
            <a:pPr marL="146050" indent="0">
              <a:buNone/>
            </a:pPr>
            <a:r>
              <a:rPr lang="fr-CA" sz="2000" dirty="0">
                <a:solidFill>
                  <a:schemeClr val="tx1"/>
                </a:solidFill>
              </a:rPr>
              <a:t>-Objection : doit s’attaquer à la thèse ou à l’argument (« On entend parfois que… »)</a:t>
            </a:r>
          </a:p>
          <a:p>
            <a:pPr marL="146050" indent="0">
              <a:buNone/>
            </a:pPr>
            <a:r>
              <a:rPr lang="fr-CA" sz="2000" dirty="0">
                <a:solidFill>
                  <a:schemeClr val="tx1"/>
                </a:solidFill>
              </a:rPr>
              <a:t>-Réfutation : doit répondre à l’objection et donner un nouvel argument. (« On pourrait répondre que… »)</a:t>
            </a:r>
          </a:p>
          <a:p>
            <a:pPr marL="146050" indent="0">
              <a:buNone/>
            </a:pPr>
            <a:r>
              <a:rPr lang="fr-CA" sz="2000" dirty="0">
                <a:solidFill>
                  <a:schemeClr val="tx1"/>
                </a:solidFill>
              </a:rPr>
              <a:t>-N’oubliez pas : votre position doit être riche et intéressante !</a:t>
            </a:r>
          </a:p>
        </p:txBody>
      </p:sp>
    </p:spTree>
    <p:extLst>
      <p:ext uri="{BB962C8B-B14F-4D97-AF65-F5344CB8AC3E}">
        <p14:creationId xmlns:p14="http://schemas.microsoft.com/office/powerpoint/2010/main" val="341214015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1083</Words>
  <Application>Microsoft Office PowerPoint</Application>
  <PresentationFormat>Affichage à l'écran (16:9)</PresentationFormat>
  <Paragraphs>56</Paragraphs>
  <Slides>22</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22</vt:i4>
      </vt:variant>
    </vt:vector>
  </HeadingPairs>
  <TitlesOfParts>
    <vt:vector size="26" baseType="lpstr">
      <vt:lpstr>Lato</vt:lpstr>
      <vt:lpstr>Arial</vt:lpstr>
      <vt:lpstr>Raleway</vt:lpstr>
      <vt:lpstr>Streamline</vt:lpstr>
      <vt:lpstr>Quelques remarques sur la position personnelle</vt:lpstr>
      <vt:lpstr>Question étudiée :</vt:lpstr>
      <vt:lpstr>La thèse : quelques conseils</vt:lpstr>
      <vt:lpstr>La thèse :</vt:lpstr>
      <vt:lpstr>Doit-on pratiquer la philosophie pour vivre une meilleure vie ?</vt:lpstr>
      <vt:lpstr>Doit-on pratiquer la philosophie pour vivre une meilleure vie ?</vt:lpstr>
      <vt:lpstr>L’argument : quelques conseils </vt:lpstr>
      <vt:lpstr>L’argument (ou les arguments)</vt:lpstr>
      <vt:lpstr>Doit-on pratiquer la philosophie pour vivre une meilleure vie ?</vt:lpstr>
      <vt:lpstr>Doit-on pratiquer la philosophie pour vivre une meilleure vie ?</vt:lpstr>
      <vt:lpstr>Doit-on pratiquer la philosophie pour vivre une meilleure vie ?</vt:lpstr>
      <vt:lpstr>Développez !!!</vt:lpstr>
      <vt:lpstr>L’objection : quelques conseils </vt:lpstr>
      <vt:lpstr>L’objection</vt:lpstr>
      <vt:lpstr>Doit-on pratiquer la philosophie pour vivre une meilleure vie ?</vt:lpstr>
      <vt:lpstr>Doit-on pratiquer la philosophie pour vivre une meilleure vie ?</vt:lpstr>
      <vt:lpstr>La réfutation : quelques conseils</vt:lpstr>
      <vt:lpstr>La réfutation</vt:lpstr>
      <vt:lpstr>Doit-on pratiquer la philosophie pour vivre une meilleure vie ?</vt:lpstr>
      <vt:lpstr>Doit-on pratiquer la philosophie pour vivre une meilleure vie ?</vt:lpstr>
      <vt:lpstr>Remarques finales</vt:lpstr>
      <vt:lpstr>Remarques finales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thèse et l’argument</dc:title>
  <dc:creator>Jacques BOULET</dc:creator>
  <cp:lastModifiedBy>Jacques BOULET</cp:lastModifiedBy>
  <cp:revision>11</cp:revision>
  <dcterms:modified xsi:type="dcterms:W3CDTF">2026-02-20T17:27:15Z</dcterms:modified>
</cp:coreProperties>
</file>