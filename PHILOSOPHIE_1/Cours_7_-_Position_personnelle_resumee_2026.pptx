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3"/>
  </p:notesMasterIdLst>
  <p:sldIdLst>
    <p:sldId id="301" r:id="rId2"/>
    <p:sldId id="256" r:id="rId3"/>
    <p:sldId id="257" r:id="rId4"/>
    <p:sldId id="258" r:id="rId5"/>
    <p:sldId id="259" r:id="rId6"/>
    <p:sldId id="260" r:id="rId7"/>
    <p:sldId id="261" r:id="rId8"/>
    <p:sldId id="262" r:id="rId9"/>
    <p:sldId id="308" r:id="rId10"/>
    <p:sldId id="263" r:id="rId11"/>
    <p:sldId id="264" r:id="rId12"/>
    <p:sldId id="265" r:id="rId13"/>
    <p:sldId id="266" r:id="rId14"/>
    <p:sldId id="267" r:id="rId15"/>
    <p:sldId id="268" r:id="rId16"/>
    <p:sldId id="269" r:id="rId17"/>
    <p:sldId id="270" r:id="rId18"/>
    <p:sldId id="271" r:id="rId19"/>
    <p:sldId id="274" r:id="rId20"/>
    <p:sldId id="275" r:id="rId21"/>
    <p:sldId id="276" r:id="rId22"/>
    <p:sldId id="277" r:id="rId23"/>
    <p:sldId id="278" r:id="rId24"/>
    <p:sldId id="279" r:id="rId25"/>
    <p:sldId id="284" r:id="rId26"/>
    <p:sldId id="285" r:id="rId27"/>
    <p:sldId id="286" r:id="rId28"/>
    <p:sldId id="287" r:id="rId29"/>
    <p:sldId id="299" r:id="rId30"/>
    <p:sldId id="288" r:id="rId31"/>
    <p:sldId id="300" r:id="rId32"/>
    <p:sldId id="289" r:id="rId33"/>
    <p:sldId id="303" r:id="rId34"/>
    <p:sldId id="290" r:id="rId35"/>
    <p:sldId id="291" r:id="rId36"/>
    <p:sldId id="292" r:id="rId37"/>
    <p:sldId id="293" r:id="rId38"/>
    <p:sldId id="294" r:id="rId39"/>
    <p:sldId id="304" r:id="rId40"/>
    <p:sldId id="295" r:id="rId41"/>
    <p:sldId id="296" r:id="rId42"/>
  </p:sldIdLst>
  <p:sldSz cx="9144000" cy="5143500" type="screen16x9"/>
  <p:notesSz cx="6858000" cy="9144000"/>
  <p:embeddedFontLst>
    <p:embeddedFont>
      <p:font typeface="Lato" panose="020F0502020204030203" pitchFamily="34" charset="0"/>
      <p:regular r:id="rId44"/>
      <p:bold r:id="rId45"/>
      <p:italic r:id="rId46"/>
      <p:boldItalic r:id="rId47"/>
    </p:embeddedFont>
    <p:embeddedFont>
      <p:font typeface="Raleway" pitchFamily="2" charset="77"/>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4"/>
  </p:normalViewPr>
  <p:slideViewPr>
    <p:cSldViewPr snapToGrid="0">
      <p:cViewPr varScale="1">
        <p:scale>
          <a:sx n="149" d="100"/>
          <a:sy n="149" d="100"/>
        </p:scale>
        <p:origin x="58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ques BOULET" userId="43a643d2-06a5-479e-886e-384f707cb631" providerId="ADAL" clId="{DE5AE381-E875-4C8A-83D8-77DF596A2AB9}"/>
    <pc:docChg chg="delSld">
      <pc:chgData name="Jacques BOULET" userId="43a643d2-06a5-479e-886e-384f707cb631" providerId="ADAL" clId="{DE5AE381-E875-4C8A-83D8-77DF596A2AB9}" dt="2024-09-13T19:53:58.657" v="3" actId="47"/>
      <pc:docMkLst>
        <pc:docMk/>
      </pc:docMkLst>
      <pc:sldChg chg="del">
        <pc:chgData name="Jacques BOULET" userId="43a643d2-06a5-479e-886e-384f707cb631" providerId="ADAL" clId="{DE5AE381-E875-4C8A-83D8-77DF596A2AB9}" dt="2024-09-13T19:53:49.891" v="0" actId="47"/>
        <pc:sldMkLst>
          <pc:docMk/>
          <pc:sldMk cId="0" sldId="297"/>
        </pc:sldMkLst>
      </pc:sldChg>
      <pc:sldChg chg="del">
        <pc:chgData name="Jacques BOULET" userId="43a643d2-06a5-479e-886e-384f707cb631" providerId="ADAL" clId="{DE5AE381-E875-4C8A-83D8-77DF596A2AB9}" dt="2024-09-13T19:53:54.189" v="1" actId="47"/>
        <pc:sldMkLst>
          <pc:docMk/>
          <pc:sldMk cId="0" sldId="298"/>
        </pc:sldMkLst>
      </pc:sldChg>
      <pc:sldChg chg="del">
        <pc:chgData name="Jacques BOULET" userId="43a643d2-06a5-479e-886e-384f707cb631" providerId="ADAL" clId="{DE5AE381-E875-4C8A-83D8-77DF596A2AB9}" dt="2024-09-13T19:53:58.657" v="3" actId="47"/>
        <pc:sldMkLst>
          <pc:docMk/>
          <pc:sldMk cId="3249976164" sldId="302"/>
        </pc:sldMkLst>
      </pc:sldChg>
      <pc:sldChg chg="del">
        <pc:chgData name="Jacques BOULET" userId="43a643d2-06a5-479e-886e-384f707cb631" providerId="ADAL" clId="{DE5AE381-E875-4C8A-83D8-77DF596A2AB9}" dt="2024-09-13T19:53:56.080" v="2" actId="47"/>
        <pc:sldMkLst>
          <pc:docMk/>
          <pc:sldMk cId="45675552" sldId="305"/>
        </pc:sldMkLst>
      </pc:sldChg>
    </pc:docChg>
  </pc:docChgLst>
  <pc:docChgLst>
    <pc:chgData name="Jacques BOULET" userId="43a643d2-06a5-479e-886e-384f707cb631" providerId="ADAL" clId="{8F2AEF9F-CD9C-4001-B725-96F8DDB58A5C}"/>
    <pc:docChg chg="custSel modSld">
      <pc:chgData name="Jacques BOULET" userId="43a643d2-06a5-479e-886e-384f707cb631" providerId="ADAL" clId="{8F2AEF9F-CD9C-4001-B725-96F8DDB58A5C}" dt="2024-09-12T16:49:19.372" v="27" actId="14100"/>
      <pc:docMkLst>
        <pc:docMk/>
      </pc:docMkLst>
      <pc:sldChg chg="modSp mod">
        <pc:chgData name="Jacques BOULET" userId="43a643d2-06a5-479e-886e-384f707cb631" providerId="ADAL" clId="{8F2AEF9F-CD9C-4001-B725-96F8DDB58A5C}" dt="2024-09-12T15:33:40.451" v="24" actId="20577"/>
        <pc:sldMkLst>
          <pc:docMk/>
          <pc:sldMk cId="1976502345" sldId="301"/>
        </pc:sldMkLst>
        <pc:spChg chg="mod">
          <ac:chgData name="Jacques BOULET" userId="43a643d2-06a5-479e-886e-384f707cb631" providerId="ADAL" clId="{8F2AEF9F-CD9C-4001-B725-96F8DDB58A5C}" dt="2024-09-12T15:33:40.451" v="24" actId="20577"/>
          <ac:spMkLst>
            <pc:docMk/>
            <pc:sldMk cId="1976502345" sldId="301"/>
            <ac:spMk id="2" creationId="{4D7A7A34-FB27-39B2-8259-E1F3E752F076}"/>
          </ac:spMkLst>
        </pc:spChg>
      </pc:sldChg>
      <pc:sldChg chg="modSp mod">
        <pc:chgData name="Jacques BOULET" userId="43a643d2-06a5-479e-886e-384f707cb631" providerId="ADAL" clId="{8F2AEF9F-CD9C-4001-B725-96F8DDB58A5C}" dt="2024-09-12T16:49:19.372" v="27" actId="14100"/>
        <pc:sldMkLst>
          <pc:docMk/>
          <pc:sldMk cId="3558415884" sldId="304"/>
        </pc:sldMkLst>
        <pc:spChg chg="mod">
          <ac:chgData name="Jacques BOULET" userId="43a643d2-06a5-479e-886e-384f707cb631" providerId="ADAL" clId="{8F2AEF9F-CD9C-4001-B725-96F8DDB58A5C}" dt="2024-09-12T16:49:19.372" v="27" actId="14100"/>
          <ac:spMkLst>
            <pc:docMk/>
            <pc:sldMk cId="3558415884" sldId="304"/>
            <ac:spMk id="285" creationId="{00000000-0000-0000-0000-000000000000}"/>
          </ac:spMkLst>
        </pc:spChg>
      </pc:sldChg>
    </pc:docChg>
  </pc:docChgLst>
  <pc:docChgLst>
    <pc:chgData name="Jacques BOULET" userId="43a643d2-06a5-479e-886e-384f707cb631" providerId="ADAL" clId="{854E9F41-E901-42F6-8A16-8BABAD9AFF53}"/>
    <pc:docChg chg="undo redo custSel addSld delSld modSld">
      <pc:chgData name="Jacques BOULET" userId="43a643d2-06a5-479e-886e-384f707cb631" providerId="ADAL" clId="{854E9F41-E901-42F6-8A16-8BABAD9AFF53}" dt="2024-09-12T18:19:28.286" v="3209" actId="20577"/>
      <pc:docMkLst>
        <pc:docMk/>
      </pc:docMkLst>
      <pc:sldChg chg="modSp mod">
        <pc:chgData name="Jacques BOULET" userId="43a643d2-06a5-479e-886e-384f707cb631" providerId="ADAL" clId="{854E9F41-E901-42F6-8A16-8BABAD9AFF53}" dt="2024-09-12T18:15:40.814" v="3093" actId="20577"/>
        <pc:sldMkLst>
          <pc:docMk/>
          <pc:sldMk cId="0" sldId="257"/>
        </pc:sldMkLst>
        <pc:spChg chg="mod">
          <ac:chgData name="Jacques BOULET" userId="43a643d2-06a5-479e-886e-384f707cb631" providerId="ADAL" clId="{854E9F41-E901-42F6-8A16-8BABAD9AFF53}" dt="2024-09-12T18:15:40.814" v="3093" actId="20577"/>
          <ac:spMkLst>
            <pc:docMk/>
            <pc:sldMk cId="0" sldId="257"/>
            <ac:spMk id="93" creationId="{00000000-0000-0000-0000-000000000000}"/>
          </ac:spMkLst>
        </pc:spChg>
      </pc:sldChg>
      <pc:sldChg chg="modSp mod">
        <pc:chgData name="Jacques BOULET" userId="43a643d2-06a5-479e-886e-384f707cb631" providerId="ADAL" clId="{854E9F41-E901-42F6-8A16-8BABAD9AFF53}" dt="2024-09-12T18:17:03.555" v="3156" actId="20577"/>
        <pc:sldMkLst>
          <pc:docMk/>
          <pc:sldMk cId="0" sldId="263"/>
        </pc:sldMkLst>
        <pc:spChg chg="mod">
          <ac:chgData name="Jacques BOULET" userId="43a643d2-06a5-479e-886e-384f707cb631" providerId="ADAL" clId="{854E9F41-E901-42F6-8A16-8BABAD9AFF53}" dt="2024-09-12T18:17:03.555" v="3156" actId="20577"/>
          <ac:spMkLst>
            <pc:docMk/>
            <pc:sldMk cId="0" sldId="263"/>
            <ac:spMk id="129" creationId="{00000000-0000-0000-0000-000000000000}"/>
          </ac:spMkLst>
        </pc:spChg>
      </pc:sldChg>
      <pc:sldChg chg="modSp mod">
        <pc:chgData name="Jacques BOULET" userId="43a643d2-06a5-479e-886e-384f707cb631" providerId="ADAL" clId="{854E9F41-E901-42F6-8A16-8BABAD9AFF53}" dt="2024-09-12T17:30:33.406" v="2" actId="20577"/>
        <pc:sldMkLst>
          <pc:docMk/>
          <pc:sldMk cId="0" sldId="270"/>
        </pc:sldMkLst>
        <pc:spChg chg="mod">
          <ac:chgData name="Jacques BOULET" userId="43a643d2-06a5-479e-886e-384f707cb631" providerId="ADAL" clId="{854E9F41-E901-42F6-8A16-8BABAD9AFF53}" dt="2024-09-12T17:30:33.406" v="2" actId="20577"/>
          <ac:spMkLst>
            <pc:docMk/>
            <pc:sldMk cId="0" sldId="270"/>
            <ac:spMk id="171" creationId="{00000000-0000-0000-0000-000000000000}"/>
          </ac:spMkLst>
        </pc:spChg>
      </pc:sldChg>
      <pc:sldChg chg="modSp mod">
        <pc:chgData name="Jacques BOULET" userId="43a643d2-06a5-479e-886e-384f707cb631" providerId="ADAL" clId="{854E9F41-E901-42F6-8A16-8BABAD9AFF53}" dt="2024-09-12T17:30:26.413" v="1" actId="27636"/>
        <pc:sldMkLst>
          <pc:docMk/>
          <pc:sldMk cId="0" sldId="271"/>
        </pc:sldMkLst>
        <pc:spChg chg="mod">
          <ac:chgData name="Jacques BOULET" userId="43a643d2-06a5-479e-886e-384f707cb631" providerId="ADAL" clId="{854E9F41-E901-42F6-8A16-8BABAD9AFF53}" dt="2024-09-12T17:30:26.413" v="1" actId="27636"/>
          <ac:spMkLst>
            <pc:docMk/>
            <pc:sldMk cId="0" sldId="271"/>
            <ac:spMk id="177" creationId="{00000000-0000-0000-0000-000000000000}"/>
          </ac:spMkLst>
        </pc:spChg>
      </pc:sldChg>
      <pc:sldChg chg="del">
        <pc:chgData name="Jacques BOULET" userId="43a643d2-06a5-479e-886e-384f707cb631" providerId="ADAL" clId="{854E9F41-E901-42F6-8A16-8BABAD9AFF53}" dt="2024-09-12T17:30:45.112" v="3" actId="47"/>
        <pc:sldMkLst>
          <pc:docMk/>
          <pc:sldMk cId="0" sldId="272"/>
        </pc:sldMkLst>
      </pc:sldChg>
      <pc:sldChg chg="modSp mod">
        <pc:chgData name="Jacques BOULET" userId="43a643d2-06a5-479e-886e-384f707cb631" providerId="ADAL" clId="{854E9F41-E901-42F6-8A16-8BABAD9AFF53}" dt="2024-09-12T18:19:28.286" v="3209" actId="20577"/>
        <pc:sldMkLst>
          <pc:docMk/>
          <pc:sldMk cId="0" sldId="280"/>
        </pc:sldMkLst>
        <pc:spChg chg="mod">
          <ac:chgData name="Jacques BOULET" userId="43a643d2-06a5-479e-886e-384f707cb631" providerId="ADAL" clId="{854E9F41-E901-42F6-8A16-8BABAD9AFF53}" dt="2024-09-12T17:39:12.101" v="101" actId="27636"/>
          <ac:spMkLst>
            <pc:docMk/>
            <pc:sldMk cId="0" sldId="280"/>
            <ac:spMk id="230" creationId="{00000000-0000-0000-0000-000000000000}"/>
          </ac:spMkLst>
        </pc:spChg>
        <pc:spChg chg="mod">
          <ac:chgData name="Jacques BOULET" userId="43a643d2-06a5-479e-886e-384f707cb631" providerId="ADAL" clId="{854E9F41-E901-42F6-8A16-8BABAD9AFF53}" dt="2024-09-12T18:19:28.286" v="3209" actId="20577"/>
          <ac:spMkLst>
            <pc:docMk/>
            <pc:sldMk cId="0" sldId="280"/>
            <ac:spMk id="231" creationId="{00000000-0000-0000-0000-000000000000}"/>
          </ac:spMkLst>
        </pc:spChg>
      </pc:sldChg>
      <pc:sldChg chg="del">
        <pc:chgData name="Jacques BOULET" userId="43a643d2-06a5-479e-886e-384f707cb631" providerId="ADAL" clId="{854E9F41-E901-42F6-8A16-8BABAD9AFF53}" dt="2024-09-12T17:31:08.694" v="4" actId="47"/>
        <pc:sldMkLst>
          <pc:docMk/>
          <pc:sldMk cId="0" sldId="281"/>
        </pc:sldMkLst>
      </pc:sldChg>
      <pc:sldChg chg="del">
        <pc:chgData name="Jacques BOULET" userId="43a643d2-06a5-479e-886e-384f707cb631" providerId="ADAL" clId="{854E9F41-E901-42F6-8A16-8BABAD9AFF53}" dt="2024-09-12T17:31:10.313" v="5" actId="47"/>
        <pc:sldMkLst>
          <pc:docMk/>
          <pc:sldMk cId="0" sldId="282"/>
        </pc:sldMkLst>
      </pc:sldChg>
      <pc:sldChg chg="del">
        <pc:chgData name="Jacques BOULET" userId="43a643d2-06a5-479e-886e-384f707cb631" providerId="ADAL" clId="{854E9F41-E901-42F6-8A16-8BABAD9AFF53}" dt="2024-09-12T17:31:11.189" v="6" actId="47"/>
        <pc:sldMkLst>
          <pc:docMk/>
          <pc:sldMk cId="0" sldId="283"/>
        </pc:sldMkLst>
      </pc:sldChg>
      <pc:sldChg chg="modSp mod">
        <pc:chgData name="Jacques BOULET" userId="43a643d2-06a5-479e-886e-384f707cb631" providerId="ADAL" clId="{854E9F41-E901-42F6-8A16-8BABAD9AFF53}" dt="2024-09-12T17:51:03.178" v="1791" actId="20577"/>
        <pc:sldMkLst>
          <pc:docMk/>
          <pc:sldMk cId="0" sldId="289"/>
        </pc:sldMkLst>
        <pc:spChg chg="mod">
          <ac:chgData name="Jacques BOULET" userId="43a643d2-06a5-479e-886e-384f707cb631" providerId="ADAL" clId="{854E9F41-E901-42F6-8A16-8BABAD9AFF53}" dt="2024-09-12T17:51:03.178" v="1791" actId="20577"/>
          <ac:spMkLst>
            <pc:docMk/>
            <pc:sldMk cId="0" sldId="289"/>
            <ac:spMk id="285" creationId="{00000000-0000-0000-0000-000000000000}"/>
          </ac:spMkLst>
        </pc:spChg>
      </pc:sldChg>
      <pc:sldChg chg="modSp mod">
        <pc:chgData name="Jacques BOULET" userId="43a643d2-06a5-479e-886e-384f707cb631" providerId="ADAL" clId="{854E9F41-E901-42F6-8A16-8BABAD9AFF53}" dt="2024-09-12T18:01:11.703" v="3079" actId="207"/>
        <pc:sldMkLst>
          <pc:docMk/>
          <pc:sldMk cId="0" sldId="294"/>
        </pc:sldMkLst>
        <pc:spChg chg="mod">
          <ac:chgData name="Jacques BOULET" userId="43a643d2-06a5-479e-886e-384f707cb631" providerId="ADAL" clId="{854E9F41-E901-42F6-8A16-8BABAD9AFF53}" dt="2024-09-12T18:01:11.703" v="3079" actId="207"/>
          <ac:spMkLst>
            <pc:docMk/>
            <pc:sldMk cId="0" sldId="294"/>
            <ac:spMk id="315" creationId="{00000000-0000-0000-0000-000000000000}"/>
          </ac:spMkLst>
        </pc:spChg>
      </pc:sldChg>
      <pc:sldChg chg="modSp mod">
        <pc:chgData name="Jacques BOULET" userId="43a643d2-06a5-479e-886e-384f707cb631" providerId="ADAL" clId="{854E9F41-E901-42F6-8A16-8BABAD9AFF53}" dt="2024-09-12T17:51:54.760" v="1802" actId="27636"/>
        <pc:sldMkLst>
          <pc:docMk/>
          <pc:sldMk cId="4102352603" sldId="303"/>
        </pc:sldMkLst>
        <pc:spChg chg="mod">
          <ac:chgData name="Jacques BOULET" userId="43a643d2-06a5-479e-886e-384f707cb631" providerId="ADAL" clId="{854E9F41-E901-42F6-8A16-8BABAD9AFF53}" dt="2024-09-12T17:51:54.760" v="1802" actId="27636"/>
          <ac:spMkLst>
            <pc:docMk/>
            <pc:sldMk cId="4102352603" sldId="303"/>
            <ac:spMk id="285" creationId="{00000000-0000-0000-0000-000000000000}"/>
          </ac:spMkLst>
        </pc:spChg>
      </pc:sldChg>
      <pc:sldChg chg="modSp mod">
        <pc:chgData name="Jacques BOULET" userId="43a643d2-06a5-479e-886e-384f707cb631" providerId="ADAL" clId="{854E9F41-E901-42F6-8A16-8BABAD9AFF53}" dt="2024-09-12T18:02:06.987" v="3087" actId="20577"/>
        <pc:sldMkLst>
          <pc:docMk/>
          <pc:sldMk cId="3558415884" sldId="304"/>
        </pc:sldMkLst>
        <pc:spChg chg="mod">
          <ac:chgData name="Jacques BOULET" userId="43a643d2-06a5-479e-886e-384f707cb631" providerId="ADAL" clId="{854E9F41-E901-42F6-8A16-8BABAD9AFF53}" dt="2024-09-12T18:02:06.987" v="3087" actId="20577"/>
          <ac:spMkLst>
            <pc:docMk/>
            <pc:sldMk cId="3558415884" sldId="304"/>
            <ac:spMk id="285" creationId="{00000000-0000-0000-0000-000000000000}"/>
          </ac:spMkLst>
        </pc:spChg>
      </pc:sldChg>
      <pc:sldChg chg="modSp add mod">
        <pc:chgData name="Jacques BOULET" userId="43a643d2-06a5-479e-886e-384f707cb631" providerId="ADAL" clId="{854E9F41-E901-42F6-8A16-8BABAD9AFF53}" dt="2024-09-12T17:45:44.343" v="1155" actId="20577"/>
        <pc:sldMkLst>
          <pc:docMk/>
          <pc:sldMk cId="1867551157" sldId="306"/>
        </pc:sldMkLst>
        <pc:spChg chg="mod">
          <ac:chgData name="Jacques BOULET" userId="43a643d2-06a5-479e-886e-384f707cb631" providerId="ADAL" clId="{854E9F41-E901-42F6-8A16-8BABAD9AFF53}" dt="2024-09-12T17:45:44.343" v="1155" actId="20577"/>
          <ac:spMkLst>
            <pc:docMk/>
            <pc:sldMk cId="1867551157" sldId="306"/>
            <ac:spMk id="231" creationId="{00000000-0000-0000-0000-000000000000}"/>
          </ac:spMkLst>
        </pc:spChg>
      </pc:sldChg>
      <pc:sldChg chg="modSp add mod">
        <pc:chgData name="Jacques BOULET" userId="43a643d2-06a5-479e-886e-384f707cb631" providerId="ADAL" clId="{854E9F41-E901-42F6-8A16-8BABAD9AFF53}" dt="2024-09-12T17:49:33.391" v="1769" actId="20577"/>
        <pc:sldMkLst>
          <pc:docMk/>
          <pc:sldMk cId="2232987823" sldId="307"/>
        </pc:sldMkLst>
        <pc:spChg chg="mod">
          <ac:chgData name="Jacques BOULET" userId="43a643d2-06a5-479e-886e-384f707cb631" providerId="ADAL" clId="{854E9F41-E901-42F6-8A16-8BABAD9AFF53}" dt="2024-09-12T17:49:33.391" v="1769" actId="20577"/>
          <ac:spMkLst>
            <pc:docMk/>
            <pc:sldMk cId="2232987823" sldId="307"/>
            <ac:spMk id="231" creationId="{00000000-0000-0000-0000-000000000000}"/>
          </ac:spMkLst>
        </pc:spChg>
      </pc:sldChg>
      <pc:sldChg chg="modSp add mod">
        <pc:chgData name="Jacques BOULET" userId="43a643d2-06a5-479e-886e-384f707cb631" providerId="ADAL" clId="{854E9F41-E901-42F6-8A16-8BABAD9AFF53}" dt="2024-09-12T18:17:45.393" v="3197" actId="20577"/>
        <pc:sldMkLst>
          <pc:docMk/>
          <pc:sldMk cId="1828660004" sldId="308"/>
        </pc:sldMkLst>
        <pc:spChg chg="mod">
          <ac:chgData name="Jacques BOULET" userId="43a643d2-06a5-479e-886e-384f707cb631" providerId="ADAL" clId="{854E9F41-E901-42F6-8A16-8BABAD9AFF53}" dt="2024-09-12T18:17:45.393" v="3197" actId="20577"/>
          <ac:spMkLst>
            <pc:docMk/>
            <pc:sldMk cId="1828660004" sldId="308"/>
            <ac:spMk id="12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395553aee0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395553aee0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609adf3f05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609adf3f05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395553aee0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395553aee0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395553aee0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395553aee0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39c77613e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39c77613e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609adf3f05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609adf3f05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609adf3f05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609adf3f05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89544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39c77613e7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39c77613e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609adf3f05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609adf3f05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39c77613e7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39c77613e7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609adf3f05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609adf3f0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139c77613e7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139c77613e7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609adf3f05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609adf3f05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139c77613e7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139c77613e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609adf3f05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609adf3f05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39c77613e7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139c77613e7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609adf3f05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609adf3f05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395553aee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1395553aee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1395553aee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1395553aee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1395553aee0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1395553aee0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1395553aee0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1395553aee0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1395553aee0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1395553aee0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395553aee0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95553aee0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395553aee0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395553aee0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1395553aee0_0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395553aee0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395553aee0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395553aee0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395553aee0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395553aee0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16543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1395553aee0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1395553aee0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1395553aee0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1395553aee0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13904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1395553aee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1395553aee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1395553aee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1395553aee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77379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1395553aee0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1395553aee0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1395553aee0_0_1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1395553aee0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1395553aee0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1395553aee0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395553aee0_0_1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395553aee0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1395553aee0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1395553aee0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1395553aee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1395553aee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772669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1395553aee0_0_1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1395553aee0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1395553aee0_0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1395553aee0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7A7A34-FB27-39B2-8259-E1F3E752F076}"/>
              </a:ext>
            </a:extLst>
          </p:cNvPr>
          <p:cNvSpPr>
            <a:spLocks noGrp="1"/>
          </p:cNvSpPr>
          <p:nvPr>
            <p:ph type="title"/>
          </p:nvPr>
        </p:nvSpPr>
        <p:spPr/>
        <p:txBody>
          <a:bodyPr>
            <a:normAutofit fontScale="90000"/>
          </a:bodyPr>
          <a:lstStyle/>
          <a:p>
            <a:r>
              <a:rPr lang="fr-CA" dirty="0"/>
              <a:t>Quelques notions</a:t>
            </a:r>
            <a:br>
              <a:rPr lang="fr-CA" dirty="0"/>
            </a:br>
            <a:r>
              <a:rPr lang="fr-CA" dirty="0"/>
              <a:t>d’argumentation </a:t>
            </a:r>
            <a:br>
              <a:rPr lang="fr-CA" dirty="0"/>
            </a:br>
            <a:r>
              <a:rPr lang="fr-CA" dirty="0"/>
              <a:t>(La position personnelle)</a:t>
            </a:r>
          </a:p>
        </p:txBody>
      </p:sp>
    </p:spTree>
    <p:extLst>
      <p:ext uri="{BB962C8B-B14F-4D97-AF65-F5344CB8AC3E}">
        <p14:creationId xmlns:p14="http://schemas.microsoft.com/office/powerpoint/2010/main" val="19765023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457200" lvl="0" indent="-495300" algn="l" rtl="0">
              <a:spcBef>
                <a:spcPts val="0"/>
              </a:spcBef>
              <a:spcAft>
                <a:spcPts val="0"/>
              </a:spcAft>
              <a:buSzPts val="4200"/>
              <a:buAutoNum type="romanUcPeriod"/>
            </a:pPr>
            <a:r>
              <a:rPr lang="en"/>
              <a:t>La thèse et l’argument</a:t>
            </a:r>
            <a:endParaRPr/>
          </a:p>
        </p:txBody>
      </p:sp>
      <p:sp>
        <p:nvSpPr>
          <p:cNvPr id="87" name="Google Shape;87;p13"/>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Définition de la thèse</a:t>
            </a:r>
            <a:endParaRPr/>
          </a:p>
        </p:txBody>
      </p:sp>
      <p:sp>
        <p:nvSpPr>
          <p:cNvPr id="93" name="Google Shape;93;p1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sz="3000" dirty="0">
                <a:solidFill>
                  <a:schemeClr val="dk1"/>
                </a:solidFill>
              </a:rPr>
              <a:t>Position qu’on </a:t>
            </a:r>
            <a:r>
              <a:rPr lang="en" sz="3000" dirty="0" err="1">
                <a:solidFill>
                  <a:schemeClr val="dk1"/>
                </a:solidFill>
              </a:rPr>
              <a:t>défend</a:t>
            </a:r>
            <a:r>
              <a:rPr lang="en" sz="3000" dirty="0">
                <a:solidFill>
                  <a:schemeClr val="dk1"/>
                </a:solidFill>
              </a:rPr>
              <a:t> à </a:t>
            </a:r>
            <a:r>
              <a:rPr lang="en" sz="3000" dirty="0" err="1">
                <a:solidFill>
                  <a:schemeClr val="dk1"/>
                </a:solidFill>
              </a:rPr>
              <a:t>l’oral</a:t>
            </a:r>
            <a:r>
              <a:rPr lang="en" sz="3000" dirty="0">
                <a:solidFill>
                  <a:schemeClr val="dk1"/>
                </a:solidFill>
              </a:rPr>
              <a:t> </a:t>
            </a:r>
            <a:r>
              <a:rPr lang="en" sz="3000" dirty="0" err="1">
                <a:solidFill>
                  <a:schemeClr val="dk1"/>
                </a:solidFill>
              </a:rPr>
              <a:t>ou</a:t>
            </a:r>
            <a:r>
              <a:rPr lang="en" sz="3000" dirty="0">
                <a:solidFill>
                  <a:schemeClr val="dk1"/>
                </a:solidFill>
              </a:rPr>
              <a:t> dans un </a:t>
            </a:r>
            <a:r>
              <a:rPr lang="en" sz="3000" dirty="0" err="1">
                <a:solidFill>
                  <a:schemeClr val="dk1"/>
                </a:solidFill>
              </a:rPr>
              <a:t>texte</a:t>
            </a:r>
            <a:r>
              <a:rPr lang="en" sz="3000" dirty="0">
                <a:solidFill>
                  <a:schemeClr val="dk1"/>
                </a:solidFill>
              </a:rPr>
              <a:t> </a:t>
            </a:r>
            <a:r>
              <a:rPr lang="en" sz="3000" dirty="0" err="1">
                <a:solidFill>
                  <a:schemeClr val="dk1"/>
                </a:solidFill>
              </a:rPr>
              <a:t>écrit</a:t>
            </a:r>
            <a:r>
              <a:rPr lang="en" sz="3000" dirty="0">
                <a:solidFill>
                  <a:schemeClr val="dk1"/>
                </a:solidFill>
              </a:rPr>
              <a:t>.</a:t>
            </a:r>
            <a:endParaRPr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Définition d’argument</a:t>
            </a:r>
            <a:endParaRPr/>
          </a:p>
        </p:txBody>
      </p:sp>
      <p:sp>
        <p:nvSpPr>
          <p:cNvPr id="99" name="Google Shape;99;p1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sz="3000">
                <a:solidFill>
                  <a:schemeClr val="dk1"/>
                </a:solidFill>
              </a:rPr>
              <a:t>Idée présentée pour appuyer la thèse.</a:t>
            </a:r>
            <a:endParaRPr sz="3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Faites la distinction entre la thèse et l’argument </a:t>
            </a:r>
            <a:endParaRPr/>
          </a:p>
        </p:txBody>
      </p:sp>
      <p:sp>
        <p:nvSpPr>
          <p:cNvPr id="105" name="Google Shape;105;p16"/>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11" name="Google Shape;111;p1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sz="3000">
                <a:solidFill>
                  <a:schemeClr val="dk1"/>
                </a:solidFill>
              </a:rPr>
              <a:t>Je crois que la philosophie est utile, car elle cherche à mieux comprendre les questions importantes de la vie.</a:t>
            </a:r>
            <a:endParaRPr sz="3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17" name="Google Shape;117;p1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sz="3000">
                <a:solidFill>
                  <a:schemeClr val="dk1"/>
                </a:solidFill>
              </a:rPr>
              <a:t>Je crois que la philosophie est utile, </a:t>
            </a:r>
            <a:r>
              <a:rPr lang="en" sz="3000">
                <a:solidFill>
                  <a:srgbClr val="FF0000"/>
                </a:solidFill>
              </a:rPr>
              <a:t>car </a:t>
            </a:r>
            <a:r>
              <a:rPr lang="en" sz="3000">
                <a:solidFill>
                  <a:schemeClr val="dk1"/>
                </a:solidFill>
              </a:rPr>
              <a:t>elle cherche à mieux comprendre les questions importantes de la vie.</a:t>
            </a:r>
            <a:endParaRPr sz="3000">
              <a:solidFill>
                <a:schemeClr val="dk1"/>
              </a:solidFill>
            </a:endParaRPr>
          </a:p>
          <a:p>
            <a:pPr marL="0" lvl="0" indent="0" algn="just" rtl="0">
              <a:spcBef>
                <a:spcPts val="0"/>
              </a:spcBef>
              <a:spcAft>
                <a:spcPts val="0"/>
              </a:spcAft>
              <a:buNone/>
            </a:pPr>
            <a:r>
              <a:rPr lang="en" sz="3000">
                <a:solidFill>
                  <a:srgbClr val="FF0000"/>
                </a:solidFill>
              </a:rPr>
              <a:t>= Thèse + car + argument.</a:t>
            </a:r>
            <a:endParaRPr sz="300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23" name="Google Shape;123;p1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sz="3000">
                <a:solidFill>
                  <a:schemeClr val="dk1"/>
                </a:solidFill>
              </a:rPr>
              <a:t>Puisque la science permet d’améliorer notre monde, nous devons investir davantage dans la recherche.</a:t>
            </a:r>
            <a:endParaRPr sz="3000">
              <a:solidFill>
                <a:schemeClr val="dk1"/>
              </a:solidFill>
            </a:endParaRPr>
          </a:p>
          <a:p>
            <a:pPr marL="0" lvl="0" indent="0" algn="just" rtl="0">
              <a:spcBef>
                <a:spcPts val="0"/>
              </a:spcBef>
              <a:spcAft>
                <a:spcPts val="0"/>
              </a:spcAft>
              <a:buNone/>
            </a:pPr>
            <a:endParaRPr sz="30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23" name="Google Shape;123;p1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lnSpcReduction="10000"/>
          </a:bodyPr>
          <a:lstStyle/>
          <a:p>
            <a:pPr marL="0" lvl="0" indent="0" algn="just" rtl="0">
              <a:spcBef>
                <a:spcPts val="0"/>
              </a:spcBef>
              <a:spcAft>
                <a:spcPts val="0"/>
              </a:spcAft>
              <a:buNone/>
            </a:pPr>
            <a:r>
              <a:rPr lang="en" sz="3000" dirty="0">
                <a:solidFill>
                  <a:schemeClr val="dk1"/>
                </a:solidFill>
              </a:rPr>
              <a:t>Puisque la science permet d’améliorer notre monde, nous devons investir davantage dans la recherche.</a:t>
            </a:r>
            <a:endParaRPr sz="3000" dirty="0">
              <a:solidFill>
                <a:schemeClr val="dk1"/>
              </a:solidFill>
            </a:endParaRPr>
          </a:p>
          <a:p>
            <a:pPr marL="0" lvl="0" indent="0" algn="just" rtl="0">
              <a:spcBef>
                <a:spcPts val="0"/>
              </a:spcBef>
              <a:spcAft>
                <a:spcPts val="0"/>
              </a:spcAft>
              <a:buNone/>
            </a:pPr>
            <a:r>
              <a:rPr lang="fr-CA" sz="3000" dirty="0">
                <a:solidFill>
                  <a:srgbClr val="FF0000"/>
                </a:solidFill>
              </a:rPr>
              <a:t>? = Thèse + car + arg.</a:t>
            </a:r>
            <a:endParaRPr sz="3000" dirty="0">
              <a:solidFill>
                <a:srgbClr val="FF0000"/>
              </a:solidFill>
            </a:endParaRPr>
          </a:p>
        </p:txBody>
      </p:sp>
    </p:spTree>
    <p:extLst>
      <p:ext uri="{BB962C8B-B14F-4D97-AF65-F5344CB8AC3E}">
        <p14:creationId xmlns:p14="http://schemas.microsoft.com/office/powerpoint/2010/main" val="1828660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29" name="Google Shape;129;p20"/>
          <p:cNvSpPr txBox="1">
            <a:spLocks noGrp="1"/>
          </p:cNvSpPr>
          <p:nvPr>
            <p:ph type="body" idx="1"/>
          </p:nvPr>
        </p:nvSpPr>
        <p:spPr>
          <a:xfrm>
            <a:off x="729450" y="2078874"/>
            <a:ext cx="7688700" cy="2854369"/>
          </a:xfrm>
          <a:prstGeom prst="rect">
            <a:avLst/>
          </a:prstGeom>
        </p:spPr>
        <p:txBody>
          <a:bodyPr spcFirstLastPara="1" wrap="square" lIns="91425" tIns="91425" rIns="91425" bIns="91425" anchor="t" anchorCtr="0">
            <a:normAutofit fontScale="92500" lnSpcReduction="20000"/>
          </a:bodyPr>
          <a:lstStyle/>
          <a:p>
            <a:pPr marL="0" lvl="0" indent="0" algn="just" rtl="0">
              <a:spcBef>
                <a:spcPts val="0"/>
              </a:spcBef>
              <a:spcAft>
                <a:spcPts val="0"/>
              </a:spcAft>
              <a:buNone/>
            </a:pPr>
            <a:r>
              <a:rPr lang="en" sz="3000" dirty="0">
                <a:solidFill>
                  <a:srgbClr val="FF0000"/>
                </a:solidFill>
              </a:rPr>
              <a:t>Puisque </a:t>
            </a:r>
            <a:r>
              <a:rPr lang="en" sz="3000" dirty="0">
                <a:solidFill>
                  <a:schemeClr val="dk1"/>
                </a:solidFill>
              </a:rPr>
              <a:t>la science permet d’améliorer notre monde, nous devons investir davantage dans la recherche.</a:t>
            </a:r>
            <a:endParaRPr sz="3000" dirty="0">
              <a:solidFill>
                <a:schemeClr val="dk1"/>
              </a:solidFill>
            </a:endParaRPr>
          </a:p>
          <a:p>
            <a:pPr marL="0" lvl="0" indent="0" algn="just" rtl="0">
              <a:spcBef>
                <a:spcPts val="0"/>
              </a:spcBef>
              <a:spcAft>
                <a:spcPts val="0"/>
              </a:spcAft>
              <a:buNone/>
            </a:pPr>
            <a:r>
              <a:rPr lang="en" sz="3000" dirty="0">
                <a:solidFill>
                  <a:srgbClr val="FF0000"/>
                </a:solidFill>
              </a:rPr>
              <a:t>= Nous devons investir davantage dans la recherche (thèse) + car + la science permet d’améliorer notre monde (arg).</a:t>
            </a:r>
            <a:endParaRPr sz="3000" dirty="0">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35" name="Google Shape;135;p2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sz="3000">
                <a:solidFill>
                  <a:schemeClr val="dk1"/>
                </a:solidFill>
              </a:rPr>
              <a:t>Les hommes sont plus violents que les femmes. En effet, près de 80% des cas de violence conjugale vise les femmes.</a:t>
            </a:r>
            <a:endParaRPr sz="3000">
              <a:solidFill>
                <a:schemeClr val="dk1"/>
              </a:solidFill>
            </a:endParaRPr>
          </a:p>
          <a:p>
            <a:pPr marL="0" lvl="0" indent="0" algn="just" rtl="0">
              <a:spcBef>
                <a:spcPts val="0"/>
              </a:spcBef>
              <a:spcAft>
                <a:spcPts val="0"/>
              </a:spcAft>
              <a:buNone/>
            </a:pPr>
            <a:endParaRPr sz="30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41" name="Google Shape;141;p2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sz="3000">
                <a:solidFill>
                  <a:schemeClr val="dk1"/>
                </a:solidFill>
              </a:rPr>
              <a:t>Les hommes sont plus violents que les femmes. </a:t>
            </a:r>
            <a:r>
              <a:rPr lang="en" sz="3000">
                <a:solidFill>
                  <a:srgbClr val="FF0000"/>
                </a:solidFill>
              </a:rPr>
              <a:t>En effet</a:t>
            </a:r>
            <a:r>
              <a:rPr lang="en" sz="3000">
                <a:solidFill>
                  <a:schemeClr val="dk1"/>
                </a:solidFill>
              </a:rPr>
              <a:t>, près de 80% des cas de violence conjugale vise les femmes.</a:t>
            </a:r>
            <a:endParaRPr sz="3000">
              <a:solidFill>
                <a:schemeClr val="dk1"/>
              </a:solidFill>
            </a:endParaRPr>
          </a:p>
          <a:p>
            <a:pPr marL="0" lvl="0" indent="0" algn="just" rtl="0">
              <a:spcBef>
                <a:spcPts val="0"/>
              </a:spcBef>
              <a:spcAft>
                <a:spcPts val="0"/>
              </a:spcAft>
              <a:buNone/>
            </a:pPr>
            <a:r>
              <a:rPr lang="en" sz="3000">
                <a:solidFill>
                  <a:srgbClr val="FF0000"/>
                </a:solidFill>
              </a:rPr>
              <a:t>? = Thèse + car + argument</a:t>
            </a:r>
            <a:endParaRPr sz="300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47" name="Google Shape;147;p23"/>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92500" lnSpcReduction="20000"/>
          </a:bodyPr>
          <a:lstStyle/>
          <a:p>
            <a:pPr marL="0" lvl="0" indent="0" algn="just" rtl="0">
              <a:spcBef>
                <a:spcPts val="0"/>
              </a:spcBef>
              <a:spcAft>
                <a:spcPts val="0"/>
              </a:spcAft>
              <a:buNone/>
            </a:pPr>
            <a:r>
              <a:rPr lang="en" sz="3000">
                <a:solidFill>
                  <a:schemeClr val="dk1"/>
                </a:solidFill>
              </a:rPr>
              <a:t>Il faudrait réintroduire la peine de mort au Canada parce qu’il s’agit de la seule manière efficace de dissuader les gens de commettre des crimes graves.</a:t>
            </a:r>
            <a:endParaRPr sz="3000">
              <a:solidFill>
                <a:schemeClr val="dk1"/>
              </a:solidFill>
            </a:endParaRPr>
          </a:p>
          <a:p>
            <a:pPr marL="0" lvl="0" indent="0" algn="just" rtl="0">
              <a:spcBef>
                <a:spcPts val="0"/>
              </a:spcBef>
              <a:spcAft>
                <a:spcPts val="0"/>
              </a:spcAft>
              <a:buNone/>
            </a:pPr>
            <a:endParaRPr sz="30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53" name="Google Shape;153;p2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92500" lnSpcReduction="20000"/>
          </a:bodyPr>
          <a:lstStyle/>
          <a:p>
            <a:pPr marL="0" lvl="0" indent="0" algn="just" rtl="0">
              <a:spcBef>
                <a:spcPts val="0"/>
              </a:spcBef>
              <a:spcAft>
                <a:spcPts val="0"/>
              </a:spcAft>
              <a:buNone/>
            </a:pPr>
            <a:r>
              <a:rPr lang="en" sz="3000">
                <a:solidFill>
                  <a:schemeClr val="dk1"/>
                </a:solidFill>
              </a:rPr>
              <a:t>Il faudrait réintroduire la peine de mort au Canada parce qu’il s’agit de la seule manière efficace de dissuader les gens de commettre des crimes graves.</a:t>
            </a:r>
            <a:endParaRPr sz="3000">
              <a:solidFill>
                <a:schemeClr val="dk1"/>
              </a:solidFill>
            </a:endParaRPr>
          </a:p>
          <a:p>
            <a:pPr marL="0" lvl="0" indent="0" algn="just" rtl="0">
              <a:spcBef>
                <a:spcPts val="0"/>
              </a:spcBef>
              <a:spcAft>
                <a:spcPts val="0"/>
              </a:spcAft>
              <a:buNone/>
            </a:pPr>
            <a:r>
              <a:rPr lang="en" sz="3000">
                <a:solidFill>
                  <a:srgbClr val="FF0000"/>
                </a:solidFill>
              </a:rPr>
              <a:t>? = thèse + car + argument</a:t>
            </a:r>
            <a:endParaRPr sz="300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59" name="Google Shape;159;p25"/>
          <p:cNvSpPr txBox="1">
            <a:spLocks noGrp="1"/>
          </p:cNvSpPr>
          <p:nvPr>
            <p:ph type="body" idx="1"/>
          </p:nvPr>
        </p:nvSpPr>
        <p:spPr>
          <a:xfrm>
            <a:off x="729450" y="2078875"/>
            <a:ext cx="7688700" cy="2526992"/>
          </a:xfrm>
          <a:prstGeom prst="rect">
            <a:avLst/>
          </a:prstGeom>
        </p:spPr>
        <p:txBody>
          <a:bodyPr spcFirstLastPara="1" wrap="square" lIns="91425" tIns="91425" rIns="91425" bIns="91425" anchor="t" anchorCtr="0">
            <a:normAutofit fontScale="85000" lnSpcReduction="10000"/>
          </a:bodyPr>
          <a:lstStyle/>
          <a:p>
            <a:pPr marL="0" lvl="0" indent="0" algn="just" rtl="0">
              <a:spcBef>
                <a:spcPts val="0"/>
              </a:spcBef>
              <a:spcAft>
                <a:spcPts val="0"/>
              </a:spcAft>
              <a:buNone/>
            </a:pPr>
            <a:r>
              <a:rPr lang="en" sz="3000" dirty="0">
                <a:solidFill>
                  <a:schemeClr val="dk1"/>
                </a:solidFill>
              </a:rPr>
              <a:t>Je crois que des humoristes comme Mike Ward sont importants : ils nous révèlent les contradictions de notre société. Pour cette raison, il faudrait annuler sa condamnation par le Tribunal des droits de la personne du Québec.</a:t>
            </a:r>
            <a:endParaRPr sz="3000" dirty="0">
              <a:solidFill>
                <a:schemeClr val="dk1"/>
              </a:solidFill>
            </a:endParaRPr>
          </a:p>
          <a:p>
            <a:pPr marL="0" lvl="0" indent="0" algn="just" rtl="0">
              <a:spcBef>
                <a:spcPts val="0"/>
              </a:spcBef>
              <a:spcAft>
                <a:spcPts val="0"/>
              </a:spcAft>
              <a:buNone/>
            </a:pPr>
            <a:endParaRPr sz="3000" dirty="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65" name="Google Shape;165;p26"/>
          <p:cNvSpPr txBox="1">
            <a:spLocks noGrp="1"/>
          </p:cNvSpPr>
          <p:nvPr>
            <p:ph type="body" idx="1"/>
          </p:nvPr>
        </p:nvSpPr>
        <p:spPr>
          <a:xfrm>
            <a:off x="729450" y="2078874"/>
            <a:ext cx="7688700" cy="2922103"/>
          </a:xfrm>
          <a:prstGeom prst="rect">
            <a:avLst/>
          </a:prstGeom>
        </p:spPr>
        <p:txBody>
          <a:bodyPr spcFirstLastPara="1" wrap="square" lIns="91425" tIns="91425" rIns="91425" bIns="91425" anchor="t" anchorCtr="0">
            <a:normAutofit fontScale="85000" lnSpcReduction="10000"/>
          </a:bodyPr>
          <a:lstStyle/>
          <a:p>
            <a:pPr marL="0" lvl="0" indent="0" algn="just" rtl="0">
              <a:spcBef>
                <a:spcPts val="0"/>
              </a:spcBef>
              <a:spcAft>
                <a:spcPts val="0"/>
              </a:spcAft>
              <a:buNone/>
            </a:pPr>
            <a:r>
              <a:rPr lang="en" sz="3000" dirty="0">
                <a:solidFill>
                  <a:schemeClr val="dk1"/>
                </a:solidFill>
              </a:rPr>
              <a:t>Je crois que des humoristes comme Mike Ward sont importants </a:t>
            </a:r>
            <a:r>
              <a:rPr lang="en" sz="3000" dirty="0">
                <a:solidFill>
                  <a:srgbClr val="FF0000"/>
                </a:solidFill>
              </a:rPr>
              <a:t>(car)</a:t>
            </a:r>
            <a:r>
              <a:rPr lang="en" sz="3000" dirty="0">
                <a:solidFill>
                  <a:schemeClr val="dk1"/>
                </a:solidFill>
              </a:rPr>
              <a:t> ils nous révèlent les contradictions de notre société. </a:t>
            </a:r>
            <a:r>
              <a:rPr lang="en" sz="3000" dirty="0">
                <a:solidFill>
                  <a:srgbClr val="FF0000"/>
                </a:solidFill>
              </a:rPr>
              <a:t>Pour cette raison</a:t>
            </a:r>
            <a:r>
              <a:rPr lang="en" sz="3000" dirty="0">
                <a:solidFill>
                  <a:schemeClr val="dk1"/>
                </a:solidFill>
              </a:rPr>
              <a:t>, il faudrait annuler sa condamnation par le Tribunal des droits de la personne du Québec. </a:t>
            </a:r>
            <a:endParaRPr lang="en" sz="3000" dirty="0">
              <a:solidFill>
                <a:srgbClr val="FF0000"/>
              </a:solidFill>
            </a:endParaRPr>
          </a:p>
          <a:p>
            <a:pPr marL="0" lvl="0" indent="0" algn="just" rtl="0">
              <a:spcBef>
                <a:spcPts val="0"/>
              </a:spcBef>
              <a:spcAft>
                <a:spcPts val="0"/>
              </a:spcAft>
              <a:buNone/>
            </a:pPr>
            <a:r>
              <a:rPr lang="en" sz="3000" dirty="0">
                <a:solidFill>
                  <a:srgbClr val="FF0000"/>
                </a:solidFill>
              </a:rPr>
              <a:t>? = Thèse + car + argument + car + argument</a:t>
            </a:r>
            <a:endParaRPr sz="3000"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71" name="Google Shape;171;p2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sz="3000" dirty="0">
                <a:solidFill>
                  <a:schemeClr val="dk1"/>
                </a:solidFill>
              </a:rPr>
              <a:t>La philosophie est difficile. C’est pourquoi, malheureusement, la plupart des cégépiens la trouvent désagréable.</a:t>
            </a:r>
            <a:endParaRPr sz="3000" dirty="0">
              <a:solidFill>
                <a:schemeClr val="dk1"/>
              </a:solidFill>
            </a:endParaRPr>
          </a:p>
          <a:p>
            <a:pPr marL="0" lvl="0" indent="0" algn="just" rtl="0">
              <a:spcBef>
                <a:spcPts val="0"/>
              </a:spcBef>
              <a:spcAft>
                <a:spcPts val="0"/>
              </a:spcAft>
              <a:buNone/>
            </a:pPr>
            <a:endParaRPr sz="3000" dirty="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77" name="Google Shape;177;p2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lnSpcReduction="10000"/>
          </a:bodyPr>
          <a:lstStyle/>
          <a:p>
            <a:pPr marL="0" lvl="0" indent="0" algn="just" rtl="0">
              <a:spcBef>
                <a:spcPts val="0"/>
              </a:spcBef>
              <a:spcAft>
                <a:spcPts val="0"/>
              </a:spcAft>
              <a:buNone/>
            </a:pPr>
            <a:r>
              <a:rPr lang="en" sz="3000" dirty="0">
                <a:solidFill>
                  <a:schemeClr val="dk1"/>
                </a:solidFill>
              </a:rPr>
              <a:t>La philosophie est difficile. C’est pourquoi, malheureusement, la plupart des cégépiens la trouvent désagréable.</a:t>
            </a:r>
            <a:endParaRPr sz="3000" dirty="0">
              <a:solidFill>
                <a:schemeClr val="dk1"/>
              </a:solidFill>
            </a:endParaRPr>
          </a:p>
          <a:p>
            <a:pPr marL="0" lvl="0" indent="0" algn="just" rtl="0">
              <a:spcBef>
                <a:spcPts val="0"/>
              </a:spcBef>
              <a:spcAft>
                <a:spcPts val="0"/>
              </a:spcAft>
              <a:buNone/>
            </a:pPr>
            <a:r>
              <a:rPr lang="en" sz="3000" dirty="0">
                <a:solidFill>
                  <a:srgbClr val="FF0000"/>
                </a:solidFill>
              </a:rPr>
              <a:t>? = thèse + car + argument</a:t>
            </a:r>
            <a:endParaRPr sz="3000"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95" name="Google Shape;195;p3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sz="3000">
                <a:solidFill>
                  <a:schemeClr val="dk1"/>
                </a:solidFill>
              </a:rPr>
              <a:t>Il est important de faire de longues études aujourd’hui. C’est clair : ce sont les intellectuels qui mènent le monde!</a:t>
            </a:r>
            <a:endParaRPr sz="3000">
              <a:solidFill>
                <a:schemeClr val="dk1"/>
              </a:solidFill>
            </a:endParaRPr>
          </a:p>
          <a:p>
            <a:pPr marL="0" lvl="0" indent="0" algn="just" rtl="0">
              <a:spcBef>
                <a:spcPts val="0"/>
              </a:spcBef>
              <a:spcAft>
                <a:spcPts val="0"/>
              </a:spcAft>
              <a:buNone/>
            </a:pPr>
            <a:endParaRPr sz="30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Identifiez les arguments</a:t>
            </a:r>
            <a:endParaRPr/>
          </a:p>
        </p:txBody>
      </p:sp>
      <p:sp>
        <p:nvSpPr>
          <p:cNvPr id="201" name="Google Shape;201;p3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(Tirés de la boussole électorale 2022)</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2300">
                <a:solidFill>
                  <a:srgbClr val="333333"/>
                </a:solidFill>
                <a:highlight>
                  <a:srgbClr val="FFFFFF"/>
                </a:highlight>
              </a:rPr>
              <a:t>Q1 : Devrait-on augmenter le salaire minimum ?</a:t>
            </a:r>
            <a:endParaRPr sz="2300"/>
          </a:p>
        </p:txBody>
      </p:sp>
      <p:sp>
        <p:nvSpPr>
          <p:cNvPr id="207" name="Google Shape;207;p33"/>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sz="3000" dirty="0">
                <a:solidFill>
                  <a:schemeClr val="accent5"/>
                </a:solidFill>
              </a:rPr>
              <a:t>En ce moment : </a:t>
            </a:r>
            <a:r>
              <a:rPr lang="en" sz="3000" strike="sngStrike" dirty="0">
                <a:solidFill>
                  <a:schemeClr val="accent5"/>
                </a:solidFill>
              </a:rPr>
              <a:t>14,25</a:t>
            </a:r>
            <a:r>
              <a:rPr lang="en" sz="3000" dirty="0">
                <a:solidFill>
                  <a:schemeClr val="accent5"/>
                </a:solidFill>
              </a:rPr>
              <a:t>$ </a:t>
            </a:r>
            <a:r>
              <a:rPr lang="en" sz="3000" dirty="0">
                <a:solidFill>
                  <a:schemeClr val="accent5"/>
                </a:solidFill>
                <a:highlight>
                  <a:srgbClr val="FFFF00"/>
                </a:highlight>
              </a:rPr>
              <a:t>16,60$</a:t>
            </a:r>
            <a:r>
              <a:rPr lang="en" sz="3000" dirty="0">
                <a:solidFill>
                  <a:schemeClr val="accent5"/>
                </a:solidFill>
              </a:rPr>
              <a:t> de l’heure.</a:t>
            </a:r>
            <a:endParaRPr sz="3000" dirty="0">
              <a:solidFill>
                <a:schemeClr val="accent5"/>
              </a:solidFill>
            </a:endParaRPr>
          </a:p>
          <a:p>
            <a:pPr marL="0" lvl="0" indent="0" algn="just" rtl="0">
              <a:spcBef>
                <a:spcPts val="0"/>
              </a:spcBef>
              <a:spcAft>
                <a:spcPts val="0"/>
              </a:spcAft>
              <a:buNone/>
            </a:pPr>
            <a:r>
              <a:rPr lang="en" sz="3000" dirty="0">
                <a:solidFill>
                  <a:schemeClr val="accent5"/>
                </a:solidFill>
              </a:rPr>
              <a:t>Cela équivaut à </a:t>
            </a:r>
            <a:r>
              <a:rPr lang="en" sz="3000" dirty="0">
                <a:solidFill>
                  <a:schemeClr val="accent5"/>
                </a:solidFill>
                <a:highlight>
                  <a:srgbClr val="FFFF00"/>
                </a:highlight>
              </a:rPr>
              <a:t>34 500</a:t>
            </a:r>
            <a:r>
              <a:rPr lang="en" sz="3000" dirty="0">
                <a:solidFill>
                  <a:schemeClr val="accent5"/>
                </a:solidFill>
              </a:rPr>
              <a:t>$ par année.</a:t>
            </a:r>
            <a:endParaRPr sz="3000" dirty="0">
              <a:solidFill>
                <a:schemeClr val="accent5"/>
              </a:solidFill>
            </a:endParaRPr>
          </a:p>
          <a:p>
            <a:pPr marL="0" lvl="0" indent="0" algn="just" rtl="0">
              <a:spcBef>
                <a:spcPts val="0"/>
              </a:spcBef>
              <a:spcAft>
                <a:spcPts val="0"/>
              </a:spcAft>
              <a:buNone/>
            </a:pPr>
            <a:r>
              <a:rPr lang="en" sz="3000" dirty="0">
                <a:solidFill>
                  <a:schemeClr val="accent5"/>
                </a:solidFill>
              </a:rPr>
              <a:t>(à 40h/sem).</a:t>
            </a:r>
            <a:endParaRPr sz="3000" dirty="0">
              <a:solidFill>
                <a:schemeClr val="accent5"/>
              </a:solidFill>
            </a:endParaRPr>
          </a:p>
          <a:p>
            <a:pPr marL="0" lvl="0" indent="0" algn="just" rtl="0">
              <a:spcBef>
                <a:spcPts val="0"/>
              </a:spcBef>
              <a:spcAft>
                <a:spcPts val="0"/>
              </a:spcAft>
              <a:buNone/>
            </a:pPr>
            <a:endParaRPr sz="3000" dirty="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2300">
                <a:solidFill>
                  <a:srgbClr val="333333"/>
                </a:solidFill>
                <a:highlight>
                  <a:srgbClr val="FFFFFF"/>
                </a:highlight>
              </a:rPr>
              <a:t>Devrait-on augmenter le salaire minimum ?</a:t>
            </a:r>
            <a:endParaRPr sz="2300"/>
          </a:p>
        </p:txBody>
      </p:sp>
      <p:sp>
        <p:nvSpPr>
          <p:cNvPr id="213" name="Google Shape;213;p3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a:solidFill>
                  <a:schemeClr val="dk1"/>
                </a:solidFill>
              </a:rPr>
              <a:t>QS : Pour offrir un salaire décent à toutes les personnes à bas salaire, Québec solidaire s’engage à hausser le salaire minimum à 18 $/h dès son arrivée au pouvoir pour ensuite l’augmenter de manière à ce qu’il permette aux personnes à bas salaire de sortir de la pauvreté. </a:t>
            </a:r>
            <a:endParaRPr sz="2500">
              <a:solidFill>
                <a:schemeClr val="dk1"/>
              </a:solidFill>
              <a:highlight>
                <a:srgbClr val="FFFFFF"/>
              </a:highlight>
            </a:endParaRPr>
          </a:p>
          <a:p>
            <a:pPr marL="0" lvl="0" indent="0" algn="just" rtl="0">
              <a:spcBef>
                <a:spcPts val="1200"/>
              </a:spcBef>
              <a:spcAft>
                <a:spcPts val="0"/>
              </a:spcAft>
              <a:buNone/>
            </a:pPr>
            <a:endParaRPr sz="25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2300">
                <a:solidFill>
                  <a:srgbClr val="333333"/>
                </a:solidFill>
                <a:highlight>
                  <a:srgbClr val="FFFFFF"/>
                </a:highlight>
              </a:rPr>
              <a:t>Devrait-on augmenter le salaire minimum ?</a:t>
            </a:r>
            <a:endParaRPr sz="2300"/>
          </a:p>
        </p:txBody>
      </p:sp>
      <p:sp>
        <p:nvSpPr>
          <p:cNvPr id="219" name="Google Shape;219;p3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a:solidFill>
                  <a:schemeClr val="dk1"/>
                </a:solidFill>
              </a:rPr>
              <a:t>PQ : Le Parti Québécois était pour une augmentation du salaire minimum à 15$ de l'heure dans le passé. Il est normal que ce seuil soit revu à la hausse, particulièrement avec l'inflation persistante que nous connaissons actuellement.</a:t>
            </a:r>
            <a:endParaRPr sz="2500">
              <a:solidFill>
                <a:schemeClr val="dk1"/>
              </a:solidFill>
            </a:endParaRPr>
          </a:p>
          <a:p>
            <a:pPr marL="0" lvl="0" indent="0" algn="l" rtl="0">
              <a:spcBef>
                <a:spcPts val="1200"/>
              </a:spcBef>
              <a:spcAft>
                <a:spcPts val="1200"/>
              </a:spcAft>
              <a:buNone/>
            </a:pPr>
            <a:endParaRPr sz="25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2300">
                <a:solidFill>
                  <a:srgbClr val="333333"/>
                </a:solidFill>
                <a:highlight>
                  <a:srgbClr val="FFFFFF"/>
                </a:highlight>
              </a:rPr>
              <a:t>Devrait-on augmenter le salaire minimum ?</a:t>
            </a:r>
            <a:endParaRPr sz="2300"/>
          </a:p>
        </p:txBody>
      </p:sp>
      <p:sp>
        <p:nvSpPr>
          <p:cNvPr id="225" name="Google Shape;225;p36"/>
          <p:cNvSpPr txBox="1">
            <a:spLocks noGrp="1"/>
          </p:cNvSpPr>
          <p:nvPr>
            <p:ph type="body" idx="1"/>
          </p:nvPr>
        </p:nvSpPr>
        <p:spPr>
          <a:xfrm>
            <a:off x="729450" y="2078875"/>
            <a:ext cx="7688700" cy="291081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dirty="0">
                <a:solidFill>
                  <a:schemeClr val="dk1"/>
                </a:solidFill>
              </a:rPr>
              <a:t>PV : Le Parti Vert du Québec appuie l’augmentation rapide du salaire minimum pour atteindre 20$/h d’ici le printemps 2023. Cette augmentation du salaire minimum sera combinée avec des modifications au Code du travail, qui interdira aux employeurs de réduire les bénéfices pour contrer la hausse du salaire minimum.</a:t>
            </a:r>
            <a:endParaRPr sz="2200" dirty="0">
              <a:solidFill>
                <a:schemeClr val="dk1"/>
              </a:solidFill>
            </a:endParaRPr>
          </a:p>
          <a:p>
            <a:pPr marL="0" lvl="0" indent="0" algn="l" rtl="0">
              <a:spcBef>
                <a:spcPts val="1200"/>
              </a:spcBef>
              <a:spcAft>
                <a:spcPts val="1200"/>
              </a:spcAft>
              <a:buNone/>
            </a:pPr>
            <a:endParaRPr sz="1900" dirty="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1"/>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II. L’objection</a:t>
            </a:r>
            <a:endParaRPr/>
          </a:p>
        </p:txBody>
      </p:sp>
      <p:sp>
        <p:nvSpPr>
          <p:cNvPr id="255" name="Google Shape;255;p41"/>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4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Définition de l’objection</a:t>
            </a:r>
            <a:endParaRPr/>
          </a:p>
        </p:txBody>
      </p:sp>
      <p:sp>
        <p:nvSpPr>
          <p:cNvPr id="261" name="Google Shape;261;p4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sz="2800">
                <a:solidFill>
                  <a:schemeClr val="dk1"/>
                </a:solidFill>
              </a:rPr>
              <a:t>Argument présenté pour attaquer une position.</a:t>
            </a:r>
            <a:endParaRPr sz="28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Comment construire une objection</a:t>
            </a:r>
            <a:endParaRPr/>
          </a:p>
        </p:txBody>
      </p:sp>
      <p:sp>
        <p:nvSpPr>
          <p:cNvPr id="267" name="Google Shape;267;p43"/>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sz="2800">
                <a:solidFill>
                  <a:schemeClr val="dk1"/>
                </a:solidFill>
              </a:rPr>
              <a:t>1- Contredire la thèse ou l’argument qu’on vise.</a:t>
            </a:r>
            <a:endParaRPr sz="2800">
              <a:solidFill>
                <a:schemeClr val="dk1"/>
              </a:solidFill>
            </a:endParaRPr>
          </a:p>
          <a:p>
            <a:pPr marL="0" lvl="0" indent="0" algn="just" rtl="0">
              <a:spcBef>
                <a:spcPts val="0"/>
              </a:spcBef>
              <a:spcAft>
                <a:spcPts val="0"/>
              </a:spcAft>
              <a:buNone/>
            </a:pPr>
            <a:r>
              <a:rPr lang="en" sz="2800">
                <a:solidFill>
                  <a:schemeClr val="dk1"/>
                </a:solidFill>
              </a:rPr>
              <a:t>2- Donner un nouvel argument pour défendre son point de vue.</a:t>
            </a:r>
            <a:endParaRPr sz="28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Exemple d’objection</a:t>
            </a:r>
            <a:endParaRPr/>
          </a:p>
        </p:txBody>
      </p:sp>
      <p:sp>
        <p:nvSpPr>
          <p:cNvPr id="273" name="Google Shape;273;p4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lnSpcReduction="20000"/>
          </a:bodyPr>
          <a:lstStyle/>
          <a:p>
            <a:pPr marL="0" lvl="0" indent="0" algn="just" rtl="0">
              <a:spcBef>
                <a:spcPts val="0"/>
              </a:spcBef>
              <a:spcAft>
                <a:spcPts val="0"/>
              </a:spcAft>
              <a:buNone/>
            </a:pPr>
            <a:r>
              <a:rPr lang="en" sz="2800">
                <a:solidFill>
                  <a:schemeClr val="dk1"/>
                </a:solidFill>
              </a:rPr>
              <a:t>Position visée : Il faut augmenter le salaire minimum.</a:t>
            </a:r>
            <a:endParaRPr sz="2800">
              <a:solidFill>
                <a:schemeClr val="dk1"/>
              </a:solidFill>
            </a:endParaRPr>
          </a:p>
          <a:p>
            <a:pPr marL="0" lvl="0" indent="0" algn="just" rtl="0">
              <a:spcBef>
                <a:spcPts val="0"/>
              </a:spcBef>
              <a:spcAft>
                <a:spcPts val="0"/>
              </a:spcAft>
              <a:buNone/>
            </a:pPr>
            <a:endParaRPr sz="2800">
              <a:solidFill>
                <a:schemeClr val="dk1"/>
              </a:solidFill>
            </a:endParaRPr>
          </a:p>
          <a:p>
            <a:pPr marL="0" lvl="0" indent="0" algn="just" rtl="0">
              <a:spcBef>
                <a:spcPts val="0"/>
              </a:spcBef>
              <a:spcAft>
                <a:spcPts val="0"/>
              </a:spcAft>
              <a:buNone/>
            </a:pPr>
            <a:r>
              <a:rPr lang="en" sz="2800">
                <a:solidFill>
                  <a:schemeClr val="dk1"/>
                </a:solidFill>
              </a:rPr>
              <a:t>Objection : Il ne faut pas augmenter le salaire minimum, car cela nuirait aux petites entreprises.</a:t>
            </a:r>
            <a:endParaRPr sz="28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Exemple d’objection</a:t>
            </a:r>
            <a:endParaRPr/>
          </a:p>
        </p:txBody>
      </p:sp>
      <p:sp>
        <p:nvSpPr>
          <p:cNvPr id="273" name="Google Shape;273;p44"/>
          <p:cNvSpPr txBox="1">
            <a:spLocks noGrp="1"/>
          </p:cNvSpPr>
          <p:nvPr>
            <p:ph type="body" idx="1"/>
          </p:nvPr>
        </p:nvSpPr>
        <p:spPr>
          <a:xfrm>
            <a:off x="729450" y="2078874"/>
            <a:ext cx="7688700" cy="2899525"/>
          </a:xfrm>
          <a:prstGeom prst="rect">
            <a:avLst/>
          </a:prstGeom>
        </p:spPr>
        <p:txBody>
          <a:bodyPr spcFirstLastPara="1" wrap="square" lIns="91425" tIns="91425" rIns="91425" bIns="91425" anchor="t" anchorCtr="0">
            <a:normAutofit fontScale="92500" lnSpcReduction="10000"/>
          </a:bodyPr>
          <a:lstStyle/>
          <a:p>
            <a:pPr marL="0" lvl="0" indent="0" algn="just" rtl="0">
              <a:spcBef>
                <a:spcPts val="0"/>
              </a:spcBef>
              <a:spcAft>
                <a:spcPts val="0"/>
              </a:spcAft>
              <a:buNone/>
            </a:pPr>
            <a:r>
              <a:rPr lang="en" sz="2800" dirty="0">
                <a:solidFill>
                  <a:schemeClr val="dk1"/>
                </a:solidFill>
              </a:rPr>
              <a:t>Position visée : Il faut augmenter le salaire minimum.</a:t>
            </a:r>
            <a:endParaRPr sz="2800" dirty="0">
              <a:solidFill>
                <a:schemeClr val="dk1"/>
              </a:solidFill>
            </a:endParaRPr>
          </a:p>
          <a:p>
            <a:pPr marL="0" lvl="0" indent="0" algn="just" rtl="0">
              <a:spcBef>
                <a:spcPts val="0"/>
              </a:spcBef>
              <a:spcAft>
                <a:spcPts val="0"/>
              </a:spcAft>
              <a:buNone/>
            </a:pPr>
            <a:endParaRPr sz="2800" dirty="0">
              <a:solidFill>
                <a:schemeClr val="dk1"/>
              </a:solidFill>
            </a:endParaRPr>
          </a:p>
          <a:p>
            <a:pPr marL="0" lvl="0" indent="0" algn="just" rtl="0">
              <a:spcBef>
                <a:spcPts val="0"/>
              </a:spcBef>
              <a:spcAft>
                <a:spcPts val="0"/>
              </a:spcAft>
              <a:buNone/>
            </a:pPr>
            <a:r>
              <a:rPr lang="en" sz="2800" dirty="0">
                <a:solidFill>
                  <a:schemeClr val="dk1"/>
                </a:solidFill>
              </a:rPr>
              <a:t>Objection : Il ne faut pas augmenter le salaire minimum </a:t>
            </a:r>
            <a:r>
              <a:rPr lang="en" sz="2800" dirty="0">
                <a:solidFill>
                  <a:srgbClr val="FF0000"/>
                </a:solidFill>
              </a:rPr>
              <a:t>(rejet de la thèse)</a:t>
            </a:r>
            <a:r>
              <a:rPr lang="en" sz="2800" dirty="0">
                <a:solidFill>
                  <a:schemeClr val="dk1"/>
                </a:solidFill>
              </a:rPr>
              <a:t>, car cela nuirait aux petites entreprises </a:t>
            </a:r>
            <a:r>
              <a:rPr lang="en" sz="2800" dirty="0">
                <a:solidFill>
                  <a:srgbClr val="FF0000"/>
                </a:solidFill>
              </a:rPr>
              <a:t>(nouvel argument).</a:t>
            </a:r>
            <a:endParaRPr sz="2800" dirty="0">
              <a:solidFill>
                <a:srgbClr val="FF0000"/>
              </a:solidFill>
            </a:endParaRPr>
          </a:p>
        </p:txBody>
      </p:sp>
    </p:spTree>
    <p:extLst>
      <p:ext uri="{BB962C8B-B14F-4D97-AF65-F5344CB8AC3E}">
        <p14:creationId xmlns:p14="http://schemas.microsoft.com/office/powerpoint/2010/main" val="32071504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4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Exemple d’objection</a:t>
            </a:r>
            <a:endParaRPr/>
          </a:p>
        </p:txBody>
      </p:sp>
      <p:sp>
        <p:nvSpPr>
          <p:cNvPr id="279" name="Google Shape;279;p4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85000" lnSpcReduction="20000"/>
          </a:bodyPr>
          <a:lstStyle/>
          <a:p>
            <a:pPr marL="0" lvl="0" indent="0" algn="just" rtl="0">
              <a:spcBef>
                <a:spcPts val="0"/>
              </a:spcBef>
              <a:spcAft>
                <a:spcPts val="0"/>
              </a:spcAft>
              <a:buNone/>
            </a:pPr>
            <a:r>
              <a:rPr lang="en" sz="2800">
                <a:solidFill>
                  <a:schemeClr val="dk1"/>
                </a:solidFill>
              </a:rPr>
              <a:t>Position visée : Il faut augmenter le salaire minimum pour contrer l’effet de l’inflation chez les familles.</a:t>
            </a:r>
            <a:endParaRPr sz="2800">
              <a:solidFill>
                <a:schemeClr val="dk1"/>
              </a:solidFill>
            </a:endParaRPr>
          </a:p>
          <a:p>
            <a:pPr marL="0" lvl="0" indent="0" algn="just" rtl="0">
              <a:spcBef>
                <a:spcPts val="0"/>
              </a:spcBef>
              <a:spcAft>
                <a:spcPts val="0"/>
              </a:spcAft>
              <a:buNone/>
            </a:pPr>
            <a:endParaRPr sz="2800">
              <a:solidFill>
                <a:schemeClr val="dk1"/>
              </a:solidFill>
            </a:endParaRPr>
          </a:p>
          <a:p>
            <a:pPr marL="0" lvl="0" indent="0" algn="just" rtl="0">
              <a:spcBef>
                <a:spcPts val="0"/>
              </a:spcBef>
              <a:spcAft>
                <a:spcPts val="0"/>
              </a:spcAft>
              <a:buNone/>
            </a:pPr>
            <a:r>
              <a:rPr lang="en" sz="2800">
                <a:solidFill>
                  <a:schemeClr val="dk1"/>
                </a:solidFill>
              </a:rPr>
              <a:t>Objection : Cela ne contrerait pas l’effet de l’inflation, au contraire. Car donner plus d’argent aux gens aurait comme effet pervers d’augmenter encore plus l’inflation.</a:t>
            </a:r>
            <a:endParaRPr sz="28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4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Exemple d’objection</a:t>
            </a:r>
            <a:endParaRPr/>
          </a:p>
        </p:txBody>
      </p:sp>
      <p:sp>
        <p:nvSpPr>
          <p:cNvPr id="279" name="Google Shape;279;p45"/>
          <p:cNvSpPr txBox="1">
            <a:spLocks noGrp="1"/>
          </p:cNvSpPr>
          <p:nvPr>
            <p:ph type="body" idx="1"/>
          </p:nvPr>
        </p:nvSpPr>
        <p:spPr>
          <a:xfrm>
            <a:off x="729450" y="2078875"/>
            <a:ext cx="7688700" cy="2685036"/>
          </a:xfrm>
          <a:prstGeom prst="rect">
            <a:avLst/>
          </a:prstGeom>
        </p:spPr>
        <p:txBody>
          <a:bodyPr spcFirstLastPara="1" wrap="square" lIns="91425" tIns="91425" rIns="91425" bIns="91425" anchor="t" anchorCtr="0">
            <a:normAutofit fontScale="85000" lnSpcReduction="20000"/>
          </a:bodyPr>
          <a:lstStyle/>
          <a:p>
            <a:pPr marL="0" lvl="0" indent="0" algn="just" rtl="0">
              <a:spcBef>
                <a:spcPts val="0"/>
              </a:spcBef>
              <a:spcAft>
                <a:spcPts val="0"/>
              </a:spcAft>
              <a:buNone/>
            </a:pPr>
            <a:r>
              <a:rPr lang="en" sz="2800" dirty="0">
                <a:solidFill>
                  <a:schemeClr val="dk1"/>
                </a:solidFill>
              </a:rPr>
              <a:t>Position visée : Il faut augmenter le salaire minimum pour contrer l’effet de l’inflation chez les familles.</a:t>
            </a:r>
            <a:endParaRPr sz="2800" dirty="0">
              <a:solidFill>
                <a:schemeClr val="dk1"/>
              </a:solidFill>
            </a:endParaRPr>
          </a:p>
          <a:p>
            <a:pPr marL="0" lvl="0" indent="0" algn="just" rtl="0">
              <a:spcBef>
                <a:spcPts val="0"/>
              </a:spcBef>
              <a:spcAft>
                <a:spcPts val="0"/>
              </a:spcAft>
              <a:buNone/>
            </a:pPr>
            <a:endParaRPr sz="2800" dirty="0">
              <a:solidFill>
                <a:schemeClr val="dk1"/>
              </a:solidFill>
            </a:endParaRPr>
          </a:p>
          <a:p>
            <a:pPr marL="0" lvl="0" indent="0" algn="just" rtl="0">
              <a:spcBef>
                <a:spcPts val="0"/>
              </a:spcBef>
              <a:spcAft>
                <a:spcPts val="0"/>
              </a:spcAft>
              <a:buNone/>
            </a:pPr>
            <a:r>
              <a:rPr lang="en" sz="2800" dirty="0">
                <a:solidFill>
                  <a:schemeClr val="dk1"/>
                </a:solidFill>
              </a:rPr>
              <a:t>Objection : Cela ne contrerait pas l’effet de l’inflation, au contraire </a:t>
            </a:r>
            <a:r>
              <a:rPr lang="en" sz="2800" dirty="0">
                <a:solidFill>
                  <a:srgbClr val="FF0000"/>
                </a:solidFill>
              </a:rPr>
              <a:t>(rejet de l’argument). </a:t>
            </a:r>
            <a:r>
              <a:rPr lang="en" sz="2800" dirty="0">
                <a:solidFill>
                  <a:schemeClr val="dk1"/>
                </a:solidFill>
              </a:rPr>
              <a:t>Car donner plus d’argent aux gens aurait comme effet pervers d’augmenter encore plus l’inflation </a:t>
            </a:r>
            <a:r>
              <a:rPr lang="en" sz="2800" dirty="0">
                <a:solidFill>
                  <a:srgbClr val="FF0000"/>
                </a:solidFill>
              </a:rPr>
              <a:t>(nouvel argument).</a:t>
            </a:r>
            <a:endParaRPr sz="2800" dirty="0">
              <a:solidFill>
                <a:srgbClr val="FF0000"/>
              </a:solidFill>
            </a:endParaRPr>
          </a:p>
        </p:txBody>
      </p:sp>
    </p:spTree>
    <p:extLst>
      <p:ext uri="{BB962C8B-B14F-4D97-AF65-F5344CB8AC3E}">
        <p14:creationId xmlns:p14="http://schemas.microsoft.com/office/powerpoint/2010/main" val="34542995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À votre tour : </a:t>
            </a:r>
            <a:endParaRPr/>
          </a:p>
        </p:txBody>
      </p:sp>
      <p:sp>
        <p:nvSpPr>
          <p:cNvPr id="285" name="Google Shape;285;p4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92500"/>
          </a:bodyPr>
          <a:lstStyle/>
          <a:p>
            <a:pPr marL="0" lvl="0" indent="0" algn="just" rtl="0">
              <a:spcBef>
                <a:spcPts val="0"/>
              </a:spcBef>
              <a:spcAft>
                <a:spcPts val="0"/>
              </a:spcAft>
              <a:buNone/>
            </a:pPr>
            <a:r>
              <a:rPr lang="en" sz="2800" dirty="0">
                <a:solidFill>
                  <a:schemeClr val="dk1"/>
                </a:solidFill>
              </a:rPr>
              <a:t>Position visée : </a:t>
            </a:r>
            <a:r>
              <a:rPr lang="fr-CA" sz="2800" dirty="0">
                <a:solidFill>
                  <a:schemeClr val="dk1"/>
                </a:solidFill>
              </a:rPr>
              <a:t>La violence n’est jamais acceptable, car elle entraîne toujours des dégâts considérables. </a:t>
            </a:r>
            <a:endParaRPr lang="en" sz="2800" dirty="0">
              <a:solidFill>
                <a:schemeClr val="dk1"/>
              </a:solidFill>
            </a:endParaRPr>
          </a:p>
          <a:p>
            <a:pPr marL="0" lvl="0" indent="0" algn="just" rtl="0">
              <a:spcBef>
                <a:spcPts val="0"/>
              </a:spcBef>
              <a:spcAft>
                <a:spcPts val="0"/>
              </a:spcAft>
              <a:buNone/>
            </a:pPr>
            <a:endParaRPr sz="2800" dirty="0">
              <a:solidFill>
                <a:schemeClr val="dk1"/>
              </a:solidFill>
            </a:endParaRPr>
          </a:p>
          <a:p>
            <a:pPr marL="0" lvl="0" indent="0" algn="just" rtl="0">
              <a:spcBef>
                <a:spcPts val="0"/>
              </a:spcBef>
              <a:spcAft>
                <a:spcPts val="0"/>
              </a:spcAft>
              <a:buNone/>
            </a:pPr>
            <a:r>
              <a:rPr lang="en" sz="2800" dirty="0">
                <a:solidFill>
                  <a:schemeClr val="dk1"/>
                </a:solidFill>
              </a:rPr>
              <a:t>Objection : </a:t>
            </a:r>
            <a:r>
              <a:rPr lang="en" sz="2800" dirty="0">
                <a:solidFill>
                  <a:srgbClr val="FF0000"/>
                </a:solidFill>
              </a:rPr>
              <a:t>?</a:t>
            </a:r>
            <a:endParaRPr sz="2800" dirty="0">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À votre tour : </a:t>
            </a:r>
            <a:endParaRPr/>
          </a:p>
        </p:txBody>
      </p:sp>
      <p:sp>
        <p:nvSpPr>
          <p:cNvPr id="285" name="Google Shape;285;p4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85000" lnSpcReduction="10000"/>
          </a:bodyPr>
          <a:lstStyle/>
          <a:p>
            <a:pPr marL="0" lvl="0" indent="0" algn="just" rtl="0">
              <a:spcBef>
                <a:spcPts val="0"/>
              </a:spcBef>
              <a:spcAft>
                <a:spcPts val="0"/>
              </a:spcAft>
              <a:buNone/>
            </a:pPr>
            <a:r>
              <a:rPr lang="en" sz="2800" dirty="0">
                <a:solidFill>
                  <a:schemeClr val="dk1"/>
                </a:solidFill>
              </a:rPr>
              <a:t>Position visée : </a:t>
            </a:r>
            <a:r>
              <a:rPr lang="fr-CA" sz="2800" dirty="0">
                <a:solidFill>
                  <a:schemeClr val="dk1"/>
                </a:solidFill>
              </a:rPr>
              <a:t>La violence est souvent acceptable, car dans un monde où la violence est partout, nous n’avons pas le choix d’user de violence nous-mêmes.</a:t>
            </a:r>
            <a:r>
              <a:rPr lang="en" sz="2800" dirty="0">
                <a:solidFill>
                  <a:schemeClr val="dk1"/>
                </a:solidFill>
              </a:rPr>
              <a:t> </a:t>
            </a:r>
          </a:p>
          <a:p>
            <a:pPr marL="0" lvl="0" indent="0" algn="just" rtl="0">
              <a:spcBef>
                <a:spcPts val="0"/>
              </a:spcBef>
              <a:spcAft>
                <a:spcPts val="0"/>
              </a:spcAft>
              <a:buNone/>
            </a:pPr>
            <a:endParaRPr sz="2800" dirty="0">
              <a:solidFill>
                <a:schemeClr val="dk1"/>
              </a:solidFill>
            </a:endParaRPr>
          </a:p>
          <a:p>
            <a:pPr marL="0" lvl="0" indent="0" algn="just" rtl="0">
              <a:spcBef>
                <a:spcPts val="0"/>
              </a:spcBef>
              <a:spcAft>
                <a:spcPts val="0"/>
              </a:spcAft>
              <a:buNone/>
            </a:pPr>
            <a:r>
              <a:rPr lang="en" sz="2800" dirty="0">
                <a:solidFill>
                  <a:schemeClr val="dk1"/>
                </a:solidFill>
              </a:rPr>
              <a:t>Objection : </a:t>
            </a:r>
            <a:r>
              <a:rPr lang="en" sz="2800" dirty="0">
                <a:solidFill>
                  <a:srgbClr val="FF0000"/>
                </a:solidFill>
              </a:rPr>
              <a:t>?</a:t>
            </a:r>
            <a:endParaRPr sz="2800" dirty="0">
              <a:solidFill>
                <a:srgbClr val="FF0000"/>
              </a:solidFill>
            </a:endParaRPr>
          </a:p>
        </p:txBody>
      </p:sp>
    </p:spTree>
    <p:extLst>
      <p:ext uri="{BB962C8B-B14F-4D97-AF65-F5344CB8AC3E}">
        <p14:creationId xmlns:p14="http://schemas.microsoft.com/office/powerpoint/2010/main" val="41023526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7"/>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III. La réfutation</a:t>
            </a:r>
            <a:endParaRPr/>
          </a:p>
        </p:txBody>
      </p:sp>
      <p:sp>
        <p:nvSpPr>
          <p:cNvPr id="291" name="Google Shape;291;p47"/>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4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Définition de la réfutation</a:t>
            </a:r>
            <a:endParaRPr/>
          </a:p>
        </p:txBody>
      </p:sp>
      <p:sp>
        <p:nvSpPr>
          <p:cNvPr id="297" name="Google Shape;297;p4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sz="2800">
                <a:solidFill>
                  <a:schemeClr val="dk1"/>
                </a:solidFill>
              </a:rPr>
              <a:t>Réponse faite à l’objection pour montrer que la thèse ou l’argument initial tient toujours.</a:t>
            </a:r>
            <a:endParaRPr sz="28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4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Exemple de progression d’un débat</a:t>
            </a:r>
            <a:endParaRPr/>
          </a:p>
        </p:txBody>
      </p:sp>
      <p:sp>
        <p:nvSpPr>
          <p:cNvPr id="303" name="Google Shape;303;p4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sz="2800">
                <a:solidFill>
                  <a:schemeClr val="dk1"/>
                </a:solidFill>
              </a:rPr>
              <a:t>Personne 1 : Thèse + argument</a:t>
            </a:r>
            <a:endParaRPr sz="2800">
              <a:solidFill>
                <a:schemeClr val="dk1"/>
              </a:solidFill>
            </a:endParaRPr>
          </a:p>
          <a:p>
            <a:pPr marL="0" lvl="0" indent="0" algn="just" rtl="0">
              <a:spcBef>
                <a:spcPts val="0"/>
              </a:spcBef>
              <a:spcAft>
                <a:spcPts val="0"/>
              </a:spcAft>
              <a:buNone/>
            </a:pPr>
            <a:r>
              <a:rPr lang="en" sz="2800">
                <a:solidFill>
                  <a:srgbClr val="0000FF"/>
                </a:solidFill>
              </a:rPr>
              <a:t>Personne 2 : Objection</a:t>
            </a:r>
            <a:endParaRPr sz="2800">
              <a:solidFill>
                <a:srgbClr val="0000FF"/>
              </a:solidFill>
            </a:endParaRPr>
          </a:p>
          <a:p>
            <a:pPr marL="0" lvl="0" indent="0" algn="just" rtl="0">
              <a:spcBef>
                <a:spcPts val="0"/>
              </a:spcBef>
              <a:spcAft>
                <a:spcPts val="0"/>
              </a:spcAft>
              <a:buNone/>
            </a:pPr>
            <a:r>
              <a:rPr lang="en" sz="2800">
                <a:solidFill>
                  <a:schemeClr val="dk1"/>
                </a:solidFill>
              </a:rPr>
              <a:t>Personne 1 : Réfutation</a:t>
            </a:r>
            <a:endParaRPr sz="2800">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5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Exemple de réfutation</a:t>
            </a:r>
            <a:endParaRPr/>
          </a:p>
        </p:txBody>
      </p:sp>
      <p:sp>
        <p:nvSpPr>
          <p:cNvPr id="309" name="Google Shape;309;p50"/>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70000" lnSpcReduction="20000"/>
          </a:bodyPr>
          <a:lstStyle/>
          <a:p>
            <a:pPr marL="0" lvl="0" indent="0" algn="just" rtl="0">
              <a:spcBef>
                <a:spcPts val="0"/>
              </a:spcBef>
              <a:spcAft>
                <a:spcPts val="0"/>
              </a:spcAft>
              <a:buNone/>
            </a:pPr>
            <a:r>
              <a:rPr lang="en" sz="2800">
                <a:solidFill>
                  <a:schemeClr val="dk1"/>
                </a:solidFill>
              </a:rPr>
              <a:t>Position visée : Il faut augmenter le salaire minimum.</a:t>
            </a:r>
            <a:endParaRPr sz="2800">
              <a:solidFill>
                <a:schemeClr val="dk1"/>
              </a:solidFill>
            </a:endParaRPr>
          </a:p>
          <a:p>
            <a:pPr marL="0" lvl="0" indent="0" algn="just" rtl="0">
              <a:spcBef>
                <a:spcPts val="0"/>
              </a:spcBef>
              <a:spcAft>
                <a:spcPts val="0"/>
              </a:spcAft>
              <a:buNone/>
            </a:pPr>
            <a:endParaRPr sz="2800">
              <a:solidFill>
                <a:schemeClr val="dk1"/>
              </a:solidFill>
            </a:endParaRPr>
          </a:p>
          <a:p>
            <a:pPr marL="0" lvl="0" indent="0" algn="just" rtl="0">
              <a:spcBef>
                <a:spcPts val="0"/>
              </a:spcBef>
              <a:spcAft>
                <a:spcPts val="0"/>
              </a:spcAft>
              <a:buNone/>
            </a:pPr>
            <a:r>
              <a:rPr lang="en" sz="2800">
                <a:solidFill>
                  <a:schemeClr val="dk1"/>
                </a:solidFill>
              </a:rPr>
              <a:t>Objection : Il ne faut pas augmenter le salaire minimum, car cela nuirait aux petites entreprises.</a:t>
            </a:r>
            <a:endParaRPr sz="2800">
              <a:solidFill>
                <a:schemeClr val="dk1"/>
              </a:solidFill>
            </a:endParaRPr>
          </a:p>
          <a:p>
            <a:pPr marL="0" lvl="0" indent="0" algn="just" rtl="0">
              <a:spcBef>
                <a:spcPts val="0"/>
              </a:spcBef>
              <a:spcAft>
                <a:spcPts val="0"/>
              </a:spcAft>
              <a:buNone/>
            </a:pPr>
            <a:endParaRPr sz="2800">
              <a:solidFill>
                <a:schemeClr val="dk1"/>
              </a:solidFill>
            </a:endParaRPr>
          </a:p>
          <a:p>
            <a:pPr marL="0" lvl="0" indent="0" algn="just" rtl="0">
              <a:spcBef>
                <a:spcPts val="0"/>
              </a:spcBef>
              <a:spcAft>
                <a:spcPts val="0"/>
              </a:spcAft>
              <a:buNone/>
            </a:pPr>
            <a:r>
              <a:rPr lang="en" sz="2800">
                <a:solidFill>
                  <a:schemeClr val="dk1"/>
                </a:solidFill>
              </a:rPr>
              <a:t>Réfutation : Cela ne nuirait pas aux petites entreprises, car notre parti prévoit les aider par différentes mesures (PQ).</a:t>
            </a:r>
            <a:endParaRPr sz="28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5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À votre tour : </a:t>
            </a:r>
            <a:endParaRPr/>
          </a:p>
        </p:txBody>
      </p:sp>
      <p:sp>
        <p:nvSpPr>
          <p:cNvPr id="315" name="Google Shape;315;p51"/>
          <p:cNvSpPr txBox="1">
            <a:spLocks noGrp="1"/>
          </p:cNvSpPr>
          <p:nvPr>
            <p:ph type="body" idx="1"/>
          </p:nvPr>
        </p:nvSpPr>
        <p:spPr>
          <a:xfrm>
            <a:off x="729450" y="1853850"/>
            <a:ext cx="7688700" cy="2948609"/>
          </a:xfrm>
          <a:prstGeom prst="rect">
            <a:avLst/>
          </a:prstGeom>
        </p:spPr>
        <p:txBody>
          <a:bodyPr spcFirstLastPara="1" wrap="square" lIns="91425" tIns="91425" rIns="91425" bIns="91425" anchor="t" anchorCtr="0">
            <a:normAutofit fontScale="77500" lnSpcReduction="20000"/>
          </a:bodyPr>
          <a:lstStyle/>
          <a:p>
            <a:pPr marL="0" lvl="0" indent="0" algn="just" rtl="0">
              <a:spcBef>
                <a:spcPts val="0"/>
              </a:spcBef>
              <a:spcAft>
                <a:spcPts val="0"/>
              </a:spcAft>
              <a:buNone/>
            </a:pPr>
            <a:r>
              <a:rPr lang="en" sz="2800" dirty="0">
                <a:solidFill>
                  <a:schemeClr val="dk1"/>
                </a:solidFill>
              </a:rPr>
              <a:t>Position visée : </a:t>
            </a:r>
            <a:r>
              <a:rPr lang="fr-CA" sz="2800" dirty="0">
                <a:solidFill>
                  <a:schemeClr val="dk1"/>
                </a:solidFill>
              </a:rPr>
              <a:t>Dans un monde où la violence est partout, nous n’avons pas le choix d’user de violence nous-mêmes. </a:t>
            </a:r>
            <a:endParaRPr lang="en" sz="2800" dirty="0">
              <a:solidFill>
                <a:schemeClr val="dk1"/>
              </a:solidFill>
            </a:endParaRPr>
          </a:p>
          <a:p>
            <a:pPr marL="0" lvl="0" indent="0" algn="just" rtl="0">
              <a:spcBef>
                <a:spcPts val="0"/>
              </a:spcBef>
              <a:spcAft>
                <a:spcPts val="0"/>
              </a:spcAft>
              <a:buNone/>
            </a:pPr>
            <a:endParaRPr sz="2800" dirty="0">
              <a:solidFill>
                <a:schemeClr val="dk1"/>
              </a:solidFill>
            </a:endParaRPr>
          </a:p>
          <a:p>
            <a:pPr marL="0" lvl="0" indent="0" algn="just" rtl="0">
              <a:spcBef>
                <a:spcPts val="0"/>
              </a:spcBef>
              <a:spcAft>
                <a:spcPts val="0"/>
              </a:spcAft>
              <a:buNone/>
            </a:pPr>
            <a:r>
              <a:rPr lang="en" sz="2800" dirty="0">
                <a:solidFill>
                  <a:schemeClr val="dk1"/>
                </a:solidFill>
              </a:rPr>
              <a:t>Objection : C’est faux car il existe des lois pour nous protéger.</a:t>
            </a:r>
          </a:p>
          <a:p>
            <a:pPr marL="0" lvl="0" indent="0" algn="just" rtl="0">
              <a:spcBef>
                <a:spcPts val="0"/>
              </a:spcBef>
              <a:spcAft>
                <a:spcPts val="0"/>
              </a:spcAft>
              <a:buNone/>
            </a:pPr>
            <a:endParaRPr sz="2800" dirty="0">
              <a:solidFill>
                <a:schemeClr val="dk1"/>
              </a:solidFill>
            </a:endParaRPr>
          </a:p>
          <a:p>
            <a:pPr marL="0" lvl="0" indent="0" algn="just" rtl="0">
              <a:spcBef>
                <a:spcPts val="0"/>
              </a:spcBef>
              <a:spcAft>
                <a:spcPts val="0"/>
              </a:spcAft>
              <a:buNone/>
            </a:pPr>
            <a:r>
              <a:rPr lang="en" sz="2800" dirty="0">
                <a:solidFill>
                  <a:srgbClr val="FF0000"/>
                </a:solidFill>
              </a:rPr>
              <a:t>Réfutation : ?</a:t>
            </a:r>
            <a:endParaRPr sz="2800" dirty="0">
              <a:solidFill>
                <a:srgbClr val="FF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À votre tour : </a:t>
            </a:r>
            <a:endParaRPr/>
          </a:p>
        </p:txBody>
      </p:sp>
      <p:sp>
        <p:nvSpPr>
          <p:cNvPr id="285" name="Google Shape;285;p46"/>
          <p:cNvSpPr txBox="1">
            <a:spLocks noGrp="1"/>
          </p:cNvSpPr>
          <p:nvPr>
            <p:ph type="body" idx="1"/>
          </p:nvPr>
        </p:nvSpPr>
        <p:spPr>
          <a:xfrm>
            <a:off x="729450" y="1687551"/>
            <a:ext cx="7688700" cy="3352799"/>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2100" dirty="0">
                <a:solidFill>
                  <a:schemeClr val="dk1"/>
                </a:solidFill>
              </a:rPr>
              <a:t>Position visée : La philosophie est importante, car elle force les gens à remettre en question les opinions dominantes de la société.</a:t>
            </a:r>
          </a:p>
          <a:p>
            <a:pPr marL="0" lvl="0" indent="0" algn="just" rtl="0">
              <a:spcBef>
                <a:spcPts val="0"/>
              </a:spcBef>
              <a:spcAft>
                <a:spcPts val="0"/>
              </a:spcAft>
              <a:buNone/>
            </a:pPr>
            <a:endParaRPr lang="fr-CA" sz="2100" dirty="0">
              <a:solidFill>
                <a:schemeClr val="dk1"/>
              </a:solidFill>
            </a:endParaRPr>
          </a:p>
          <a:p>
            <a:pPr marL="0" lvl="0" indent="0" algn="just" rtl="0">
              <a:spcBef>
                <a:spcPts val="0"/>
              </a:spcBef>
              <a:spcAft>
                <a:spcPts val="0"/>
              </a:spcAft>
              <a:buNone/>
            </a:pPr>
            <a:r>
              <a:rPr lang="fr-CA" sz="2100" dirty="0">
                <a:solidFill>
                  <a:schemeClr val="dk1"/>
                </a:solidFill>
              </a:rPr>
              <a:t>Objection : Mais remettre en question les opinions dominantes n’est pas une bonne idée, car cela a pour conséquence de nous exclure du reste de la société.</a:t>
            </a:r>
            <a:endParaRPr sz="2100" dirty="0">
              <a:solidFill>
                <a:schemeClr val="dk1"/>
              </a:solidFill>
            </a:endParaRPr>
          </a:p>
          <a:p>
            <a:pPr marL="0" lvl="0" indent="0" algn="just" rtl="0">
              <a:spcBef>
                <a:spcPts val="0"/>
              </a:spcBef>
              <a:spcAft>
                <a:spcPts val="0"/>
              </a:spcAft>
              <a:buNone/>
            </a:pPr>
            <a:endParaRPr lang="en" sz="2100" dirty="0">
              <a:solidFill>
                <a:srgbClr val="FF0000"/>
              </a:solidFill>
            </a:endParaRPr>
          </a:p>
          <a:p>
            <a:pPr marL="0" lvl="0" indent="0" algn="just" rtl="0">
              <a:spcBef>
                <a:spcPts val="0"/>
              </a:spcBef>
              <a:spcAft>
                <a:spcPts val="0"/>
              </a:spcAft>
              <a:buNone/>
            </a:pPr>
            <a:r>
              <a:rPr lang="en" sz="2100" dirty="0">
                <a:solidFill>
                  <a:srgbClr val="FF0000"/>
                </a:solidFill>
              </a:rPr>
              <a:t>Réfutation : ?</a:t>
            </a:r>
            <a:endParaRPr sz="2100" dirty="0">
              <a:solidFill>
                <a:srgbClr val="FF0000"/>
              </a:solidFill>
            </a:endParaRPr>
          </a:p>
        </p:txBody>
      </p:sp>
    </p:spTree>
    <p:extLst>
      <p:ext uri="{BB962C8B-B14F-4D97-AF65-F5344CB8AC3E}">
        <p14:creationId xmlns:p14="http://schemas.microsoft.com/office/powerpoint/2010/main" val="35584158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5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IV. Exercices</a:t>
            </a:r>
            <a:endParaRPr/>
          </a:p>
        </p:txBody>
      </p:sp>
      <p:sp>
        <p:nvSpPr>
          <p:cNvPr id="321" name="Google Shape;321;p5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5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err="1"/>
              <a:t>Exercice</a:t>
            </a:r>
            <a:r>
              <a:rPr lang="en" dirty="0"/>
              <a:t> : </a:t>
            </a:r>
            <a:endParaRPr dirty="0"/>
          </a:p>
        </p:txBody>
      </p:sp>
      <p:sp>
        <p:nvSpPr>
          <p:cNvPr id="327" name="Google Shape;327;p53"/>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sz="2800" dirty="0" err="1">
                <a:solidFill>
                  <a:schemeClr val="dk1"/>
                </a:solidFill>
              </a:rPr>
              <a:t>Identifiez</a:t>
            </a:r>
            <a:r>
              <a:rPr lang="en" sz="2800" dirty="0">
                <a:solidFill>
                  <a:schemeClr val="dk1"/>
                </a:solidFill>
              </a:rPr>
              <a:t> la </a:t>
            </a:r>
            <a:r>
              <a:rPr lang="en" sz="2800" dirty="0" err="1">
                <a:solidFill>
                  <a:schemeClr val="dk1"/>
                </a:solidFill>
              </a:rPr>
              <a:t>thèse</a:t>
            </a:r>
            <a:r>
              <a:rPr lang="en" sz="2800" dirty="0">
                <a:solidFill>
                  <a:schemeClr val="dk1"/>
                </a:solidFill>
              </a:rPr>
              <a:t>, les arguments, les objections et les </a:t>
            </a:r>
            <a:r>
              <a:rPr lang="en" sz="2800" dirty="0" err="1">
                <a:solidFill>
                  <a:schemeClr val="dk1"/>
                </a:solidFill>
              </a:rPr>
              <a:t>réfutations</a:t>
            </a:r>
            <a:r>
              <a:rPr lang="en" sz="2800" dirty="0">
                <a:solidFill>
                  <a:schemeClr val="dk1"/>
                </a:solidFill>
              </a:rPr>
              <a:t>.</a:t>
            </a:r>
            <a:endParaRPr sz="2800" dirty="0">
              <a:solidFill>
                <a:schemeClr val="dk1"/>
              </a:solidFill>
            </a:endParaRPr>
          </a:p>
          <a:p>
            <a:pPr marL="0" lvl="0" indent="0" algn="just" rtl="0">
              <a:spcBef>
                <a:spcPts val="0"/>
              </a:spcBef>
              <a:spcAft>
                <a:spcPts val="0"/>
              </a:spcAft>
              <a:buNone/>
            </a:pPr>
            <a:endParaRPr sz="2800" dirty="0">
              <a:solidFill>
                <a:schemeClr val="dk1"/>
              </a:solidFill>
            </a:endParaRPr>
          </a:p>
          <a:p>
            <a:pPr marL="0" lvl="0" indent="0" algn="just" rtl="0">
              <a:spcBef>
                <a:spcPts val="0"/>
              </a:spcBef>
              <a:spcAft>
                <a:spcPts val="0"/>
              </a:spcAft>
              <a:buNone/>
            </a:pPr>
            <a:r>
              <a:rPr lang="en" sz="2800" dirty="0" err="1">
                <a:solidFill>
                  <a:schemeClr val="dk1"/>
                </a:solidFill>
              </a:rPr>
              <a:t>Voir</a:t>
            </a:r>
            <a:r>
              <a:rPr lang="en" sz="2800" dirty="0">
                <a:solidFill>
                  <a:schemeClr val="dk1"/>
                </a:solidFill>
              </a:rPr>
              <a:t> </a:t>
            </a:r>
            <a:r>
              <a:rPr lang="en" sz="2800" dirty="0" err="1">
                <a:solidFill>
                  <a:schemeClr val="dk1"/>
                </a:solidFill>
              </a:rPr>
              <a:t>recueil</a:t>
            </a:r>
            <a:r>
              <a:rPr lang="en" sz="2800" dirty="0">
                <a:solidFill>
                  <a:schemeClr val="dk1"/>
                </a:solidFill>
              </a:rPr>
              <a:t> de </a:t>
            </a:r>
            <a:r>
              <a:rPr lang="en" sz="2800" dirty="0" err="1">
                <a:solidFill>
                  <a:schemeClr val="dk1"/>
                </a:solidFill>
              </a:rPr>
              <a:t>textes</a:t>
            </a:r>
            <a:r>
              <a:rPr lang="en" sz="2800" dirty="0">
                <a:solidFill>
                  <a:schemeClr val="dk1"/>
                </a:solidFill>
              </a:rPr>
              <a:t> : p. 55-58</a:t>
            </a:r>
            <a:endParaRPr sz="2800" dirty="0">
              <a:solidFill>
                <a:schemeClr val="dk1"/>
              </a:solidFill>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1515</TotalTime>
  <Words>1153</Words>
  <Application>Microsoft Macintosh PowerPoint</Application>
  <PresentationFormat>Affichage à l'écran (16:9)</PresentationFormat>
  <Paragraphs>100</Paragraphs>
  <Slides>41</Slides>
  <Notes>40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41</vt:i4>
      </vt:variant>
    </vt:vector>
  </HeadingPairs>
  <TitlesOfParts>
    <vt:vector size="45" baseType="lpstr">
      <vt:lpstr>Arial</vt:lpstr>
      <vt:lpstr>Lato</vt:lpstr>
      <vt:lpstr>Raleway</vt:lpstr>
      <vt:lpstr>Streamline</vt:lpstr>
      <vt:lpstr>Quelques notions d’argumentation  (La position personnelle)</vt:lpstr>
      <vt:lpstr>La thèse et l’argument</vt:lpstr>
      <vt:lpstr>Définition de la thèse</vt:lpstr>
      <vt:lpstr>Définition d’argument</vt:lpstr>
      <vt:lpstr>Faites la distinction entre la thèse et l’argument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Identifiez les arguments</vt:lpstr>
      <vt:lpstr>Q1 : Devrait-on augmenter le salaire minimum ?</vt:lpstr>
      <vt:lpstr>Devrait-on augmenter le salaire minimum ?</vt:lpstr>
      <vt:lpstr>Devrait-on augmenter le salaire minimum ?</vt:lpstr>
      <vt:lpstr>Devrait-on augmenter le salaire minimum ?</vt:lpstr>
      <vt:lpstr>II. L’objection</vt:lpstr>
      <vt:lpstr>Définition de l’objection</vt:lpstr>
      <vt:lpstr>Comment construire une objection</vt:lpstr>
      <vt:lpstr>Exemple d’objection</vt:lpstr>
      <vt:lpstr>Exemple d’objection</vt:lpstr>
      <vt:lpstr>Exemple d’objection</vt:lpstr>
      <vt:lpstr>Exemple d’objection</vt:lpstr>
      <vt:lpstr>À votre tour : </vt:lpstr>
      <vt:lpstr>À votre tour : </vt:lpstr>
      <vt:lpstr>III. La réfutation</vt:lpstr>
      <vt:lpstr>Définition de la réfutation</vt:lpstr>
      <vt:lpstr>Exemple de progression d’un débat</vt:lpstr>
      <vt:lpstr>Exemple de réfutation</vt:lpstr>
      <vt:lpstr>À votre tour : </vt:lpstr>
      <vt:lpstr>À votre tour : </vt:lpstr>
      <vt:lpstr>IV. Exercices</vt:lpstr>
      <vt:lpstr>Exercice :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thèse et l’argument</dc:title>
  <cp:lastModifiedBy>Jacques BOULET</cp:lastModifiedBy>
  <cp:revision>11</cp:revision>
  <dcterms:modified xsi:type="dcterms:W3CDTF">2026-02-20T19:33:03Z</dcterms:modified>
</cp:coreProperties>
</file>